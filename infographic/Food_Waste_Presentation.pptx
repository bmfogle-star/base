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___. My topic for this project is food waste, and how it connects to sustainability. Food waste is one of those problems that sits quietly in the background, but once you look at the numbers it turns out to be a big deal for our economy, the environment, and the people around us. Over the next few minutes I'll cover what food waste actually is, why it matters, and some realistic ways we can cut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counts as food waste? It's any food that was grown or made for people to eat but ends up thrown out instead. Experts usually split it into two parts. Food loss happens early, on farms and in factories, when crops spoil or get damaged before they reach us. Food waste happens later, at stores, restaurants, and in our own kitchens. Globally, about a third of all food is never eaten. In the U.S. it's even higher, somewhere between 30 and 40 percent of everything we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gets wasted at every step of the chain. Some is lost on farms and during processing. Stores toss food that looks less than perfect or passes a sell-by date, and restaurants over-prepare. But in the U.S., the single biggest source is our own homes. We buy more than we can use, we get confused by date labels, and we serve portions that are too big. The good news is that because so much waste happens at the consumer end, a lot of it is within our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waste hurts in three directions, which lines up with the three E's of sustainability. For people, it costs the average family of four around 1,500 dollars a year, and it feels unfair when 34 million Americans don't have enough to eat while good food gets thrown out. For the environment, food rotting in landfills releases methane, a strong greenhouse gas, and all the water and land used to grow that food is wasted too. And for wildlife, clearing land destroys habitat, while fertilizer runoff pollutes rivers and creates dead zones in the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encouraging part is that we already know how to fix a lot of this, at every level. As individuals, we can plan meals, shop with a list, store food properly, and stop treating best-by dates as hard deadlines. At the local and national level, cities can offer curbside composting, and governments can pass donation laws and clearer labeling so stores send extra food to food banks. And globally, wealthier countries can help fund better storage and transport, and support shared goals like the UN's target to cut food waste in half by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figure out which solutions are worth pushing hardest, I rated my top three against the three E's. Rescuing and donating surplus food scores high for the environment and for equity, since it feeds people directly, but it costs money to move and store. Composting is strong for the environment and creates jobs, but it doesn't feed anyone directly. Smart shopping and clearer labels might be the best all-around option. It stops waste at the source, it's cheap, and it saves families money, though it reaches people unevenly.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pulled all of this together into a one-page infographic. It lays out the problem, the impacts on people, the environment, and wildlife, the solutions at each level, and the same evaluation table. The big takeaway is that food waste is a problem we all touch every day, which also means we all have a part in the solution. Small changes at home add up quickly when millions of people make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wrap up, food waste is a sustainability problem hiding in plain sight, but it's also one of the most fixable. Plan your meals, save your leftovers, compost what you can, and support policies that move extra food to people who need it. If we each waste a little less, we save money, cut emissions, protect habitats, and help feed our neighbors, all at once. Thanks for listening, and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1F"/>
        </a:solidFill>
      </p:bgPr>
    </p:bg>
    <p:spTree>
      <p:nvGrpSpPr>
        <p:cNvPr id="1" name=""/>
        <p:cNvGrpSpPr/>
        <p:nvPr/>
      </p:nvGrpSpPr>
      <p:grpSpPr>
        <a:xfrm>
          <a:off x="0" y="0"/>
          <a:ext cx="0" cy="0"/>
          <a:chOff x="0" y="0"/>
          <a:chExt cx="0" cy="0"/>
        </a:xfrm>
      </p:grpSpPr>
      <p:sp>
        <p:nvSpPr>
          <p:cNvPr id="2" name="Shape 0"/>
          <p:cNvSpPr/>
          <p:nvPr/>
        </p:nvSpPr>
        <p:spPr>
          <a:xfrm>
            <a:off x="9509760" y="-1280160"/>
            <a:ext cx="3291840" cy="3291840"/>
          </a:xfrm>
          <a:prstGeom prst="ellipse">
            <a:avLst/>
          </a:prstGeom>
          <a:solidFill>
            <a:srgbClr val="2C5F2D"/>
          </a:solidFill>
          <a:ln/>
        </p:spPr>
      </p:sp>
      <p:sp>
        <p:nvSpPr>
          <p:cNvPr id="3" name="Shape 1"/>
          <p:cNvSpPr/>
          <p:nvPr/>
        </p:nvSpPr>
        <p:spPr>
          <a:xfrm>
            <a:off x="10607040" y="1554480"/>
            <a:ext cx="2011680" cy="2011680"/>
          </a:xfrm>
          <a:prstGeom prst="ellipse">
            <a:avLst/>
          </a:prstGeom>
          <a:solidFill>
            <a:srgbClr val="97BC62"/>
          </a:solidFill>
          <a:ln/>
        </p:spPr>
      </p:sp>
      <p:sp>
        <p:nvSpPr>
          <p:cNvPr id="4" name="Shape 2"/>
          <p:cNvSpPr/>
          <p:nvPr/>
        </p:nvSpPr>
        <p:spPr>
          <a:xfrm>
            <a:off x="5410048" y="1097280"/>
            <a:ext cx="1371600" cy="1371600"/>
          </a:xfrm>
          <a:prstGeom prst="ellipse">
            <a:avLst/>
          </a:prstGeom>
          <a:solidFill>
            <a:srgbClr val="D8892B"/>
          </a:solidFill>
          <a:ln/>
        </p:spPr>
      </p:sp>
      <p:pic>
        <p:nvPicPr>
          <p:cNvPr id="5" name="Image 0" descr="preencoded.png">    </p:cNvPr>
          <p:cNvPicPr>
            <a:picLocks noChangeAspect="1"/>
          </p:cNvPicPr>
          <p:nvPr/>
        </p:nvPicPr>
        <p:blipFill>
          <a:blip r:embed="rId1"/>
          <a:stretch>
            <a:fillRect/>
          </a:stretch>
        </p:blipFill>
        <p:spPr>
          <a:xfrm>
            <a:off x="5812384" y="1499616"/>
            <a:ext cx="566928" cy="566928"/>
          </a:xfrm>
          <a:prstGeom prst="rect">
            <a:avLst/>
          </a:prstGeom>
        </p:spPr>
      </p:pic>
      <p:sp>
        <p:nvSpPr>
          <p:cNvPr id="6" name="Text 3"/>
          <p:cNvSpPr/>
          <p:nvPr/>
        </p:nvSpPr>
        <p:spPr>
          <a:xfrm>
            <a:off x="0" y="2788920"/>
            <a:ext cx="12191695" cy="365760"/>
          </a:xfrm>
          <a:prstGeom prst="rect">
            <a:avLst/>
          </a:prstGeom>
          <a:noFill/>
          <a:ln/>
        </p:spPr>
        <p:txBody>
          <a:bodyPr wrap="square" lIns="0" tIns="0" rIns="0" bIns="0" rtlCol="0" anchor="ctr"/>
          <a:lstStyle/>
          <a:p>
            <a:pPr algn="ctr" indent="0" marL="0">
              <a:lnSpc>
                <a:spcPct val="112000"/>
              </a:lnSpc>
              <a:buNone/>
            </a:pPr>
            <a:r>
              <a:rPr lang="en-US" sz="1300" b="1" dirty="0">
                <a:solidFill>
                  <a:srgbClr val="97BC62"/>
                </a:solidFill>
                <a:latin typeface="Calibri" pitchFamily="34" charset="0"/>
                <a:ea typeface="Calibri" pitchFamily="34" charset="-122"/>
                <a:cs typeface="Calibri" pitchFamily="34" charset="-120"/>
              </a:rPr>
              <a:t>FOOD WASTE &amp; SUSTAINABILITY</a:t>
            </a:r>
            <a:endParaRPr lang="en-US" sz="1300" dirty="0"/>
          </a:p>
        </p:txBody>
      </p:sp>
      <p:sp>
        <p:nvSpPr>
          <p:cNvPr id="7" name="Text 4"/>
          <p:cNvSpPr/>
          <p:nvPr/>
        </p:nvSpPr>
        <p:spPr>
          <a:xfrm>
            <a:off x="0" y="3200400"/>
            <a:ext cx="12191695" cy="914400"/>
          </a:xfrm>
          <a:prstGeom prst="rect">
            <a:avLst/>
          </a:prstGeom>
          <a:noFill/>
          <a:ln/>
        </p:spPr>
        <p:txBody>
          <a:bodyPr wrap="square" lIns="0" tIns="0" rIns="0" bIns="0" rtlCol="0" anchor="ctr"/>
          <a:lstStyle/>
          <a:p>
            <a:pPr algn="ctr" indent="0" marL="0">
              <a:lnSpc>
                <a:spcPct val="112000"/>
              </a:lnSpc>
              <a:buNone/>
            </a:pPr>
            <a:r>
              <a:rPr lang="en-US" sz="4000" b="1" dirty="0">
                <a:solidFill>
                  <a:srgbClr val="FFFFFF"/>
                </a:solidFill>
                <a:latin typeface="Georgia" pitchFamily="34" charset="0"/>
                <a:ea typeface="Georgia" pitchFamily="34" charset="-122"/>
                <a:cs typeface="Georgia" pitchFamily="34" charset="-120"/>
              </a:rPr>
              <a:t>The Real Cost of What We Throw Away</a:t>
            </a:r>
            <a:endParaRPr lang="en-US" sz="4000" dirty="0"/>
          </a:p>
        </p:txBody>
      </p:sp>
      <p:sp>
        <p:nvSpPr>
          <p:cNvPr id="8" name="Text 5"/>
          <p:cNvSpPr/>
          <p:nvPr/>
        </p:nvSpPr>
        <p:spPr>
          <a:xfrm>
            <a:off x="0" y="4343400"/>
            <a:ext cx="12191695" cy="457200"/>
          </a:xfrm>
          <a:prstGeom prst="rect">
            <a:avLst/>
          </a:prstGeom>
          <a:noFill/>
          <a:ln/>
        </p:spPr>
        <p:txBody>
          <a:bodyPr wrap="square" lIns="0" tIns="0" rIns="0" bIns="0" rtlCol="0" anchor="ctr"/>
          <a:lstStyle/>
          <a:p>
            <a:pPr algn="ctr" indent="0" marL="0">
              <a:lnSpc>
                <a:spcPct val="112000"/>
              </a:lnSpc>
              <a:buNone/>
            </a:pPr>
            <a:r>
              <a:rPr lang="en-US" sz="1600" i="1" dirty="0">
                <a:solidFill>
                  <a:srgbClr val="D9E4C6"/>
                </a:solidFill>
                <a:latin typeface="Calibri" pitchFamily="34" charset="0"/>
                <a:ea typeface="Calibri" pitchFamily="34" charset="-122"/>
                <a:cs typeface="Calibri" pitchFamily="34" charset="-120"/>
              </a:rPr>
              <a:t>A closer look at the food we waste, and how we can fix it</a:t>
            </a:r>
            <a:endParaRPr lang="en-US" sz="1600" dirty="0"/>
          </a:p>
        </p:txBody>
      </p:sp>
      <p:sp>
        <p:nvSpPr>
          <p:cNvPr id="9" name="Text 6"/>
          <p:cNvSpPr/>
          <p:nvPr/>
        </p:nvSpPr>
        <p:spPr>
          <a:xfrm>
            <a:off x="0" y="5943600"/>
            <a:ext cx="12191695" cy="365760"/>
          </a:xfrm>
          <a:prstGeom prst="rect">
            <a:avLst/>
          </a:prstGeom>
          <a:noFill/>
          <a:ln/>
        </p:spPr>
        <p:txBody>
          <a:bodyPr wrap="square" lIns="0" tIns="0" rIns="0" bIns="0" rtlCol="0" anchor="ctr"/>
          <a:lstStyle/>
          <a:p>
            <a:pPr algn="ctr" indent="0" marL="0">
              <a:lnSpc>
                <a:spcPct val="112000"/>
              </a:lnSpc>
              <a:buNone/>
            </a:pPr>
            <a:r>
              <a:rPr lang="en-US" sz="1200" dirty="0">
                <a:solidFill>
                  <a:srgbClr val="B9C7A8"/>
                </a:solidFill>
                <a:latin typeface="Calibri" pitchFamily="34" charset="0"/>
                <a:ea typeface="Calibri" pitchFamily="34" charset="-122"/>
                <a:cs typeface="Calibri" pitchFamily="34" charset="-120"/>
              </a:rPr>
              <a:t>Name: ________________     ·     Course: ________________     ·     Date: __________</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6908"/>
            <a:ext cx="640080" cy="640080"/>
          </a:xfrm>
          <a:prstGeom prst="ellipse">
            <a:avLst/>
          </a:prstGeom>
          <a:solidFill>
            <a:srgbClr val="2C5F2D"/>
          </a:solidFill>
          <a:ln/>
        </p:spPr>
      </p:sp>
      <p:pic>
        <p:nvPicPr>
          <p:cNvPr id="3" name="Image 0" descr="preencoded.png">    </p:cNvPr>
          <p:cNvPicPr>
            <a:picLocks noChangeAspect="1"/>
          </p:cNvPicPr>
          <p:nvPr/>
        </p:nvPicPr>
        <p:blipFill>
          <a:blip r:embed="rId1"/>
          <a:stretch>
            <a:fillRect/>
          </a:stretch>
        </p:blipFill>
        <p:spPr>
          <a:xfrm>
            <a:off x="722376" y="580644"/>
            <a:ext cx="292608" cy="292608"/>
          </a:xfrm>
          <a:prstGeom prst="rect">
            <a:avLst/>
          </a:prstGeom>
        </p:spPr>
      </p:pic>
      <p:sp>
        <p:nvSpPr>
          <p:cNvPr id="4" name="Text 1"/>
          <p:cNvSpPr/>
          <p:nvPr/>
        </p:nvSpPr>
        <p:spPr>
          <a:xfrm>
            <a:off x="1234440" y="384048"/>
            <a:ext cx="10454335" cy="685800"/>
          </a:xfrm>
          <a:prstGeom prst="rect">
            <a:avLst/>
          </a:prstGeom>
          <a:noFill/>
          <a:ln/>
        </p:spPr>
        <p:txBody>
          <a:bodyPr wrap="square" lIns="0" tIns="0" rIns="0" bIns="0" rtlCol="0" anchor="ctr"/>
          <a:lstStyle/>
          <a:p>
            <a:pPr algn="l" indent="0" marL="0">
              <a:lnSpc>
                <a:spcPct val="112000"/>
              </a:lnSpc>
              <a:buNone/>
            </a:pPr>
            <a:r>
              <a:rPr lang="en-US" sz="2800" b="1" dirty="0">
                <a:solidFill>
                  <a:srgbClr val="1F3D1F"/>
                </a:solidFill>
                <a:latin typeface="Georgia" pitchFamily="34" charset="0"/>
                <a:ea typeface="Georgia" pitchFamily="34" charset="-122"/>
                <a:cs typeface="Georgia" pitchFamily="34" charset="-120"/>
              </a:rPr>
              <a:t>What Is Food Waste?</a:t>
            </a:r>
            <a:endParaRPr lang="en-US" sz="2800" dirty="0"/>
          </a:p>
        </p:txBody>
      </p:sp>
      <p:sp>
        <p:nvSpPr>
          <p:cNvPr id="5" name="Text 2"/>
          <p:cNvSpPr/>
          <p:nvPr/>
        </p:nvSpPr>
        <p:spPr>
          <a:xfrm>
            <a:off x="548640" y="1417320"/>
            <a:ext cx="6400800" cy="3291840"/>
          </a:xfrm>
          <a:prstGeom prst="rect">
            <a:avLst/>
          </a:prstGeom>
          <a:noFill/>
          <a:ln/>
        </p:spPr>
        <p:txBody>
          <a:bodyPr wrap="square" lIns="0" tIns="0" rIns="0" bIns="0" rtlCol="0" anchor="t"/>
          <a:lstStyle/>
          <a:p>
            <a:pPr algn="l" indent="0" marL="0">
              <a:lnSpc>
                <a:spcPct val="120000"/>
              </a:lnSpc>
              <a:buNone/>
            </a:pPr>
            <a:r>
              <a:rPr lang="en-US" sz="1400" dirty="0">
                <a:solidFill>
                  <a:srgbClr val="2E2E2E"/>
                </a:solidFill>
                <a:latin typeface="Calibri" pitchFamily="34" charset="0"/>
                <a:ea typeface="Calibri" pitchFamily="34" charset="-122"/>
                <a:cs typeface="Calibri" pitchFamily="34" charset="-120"/>
              </a:rPr>
              <a:t>Food waste is any food that was grown or made for people to eat, but ends up thrown out instead. Experts usually split the problem into two parts:
</a:t>
            </a:r>
            <a:pPr algn="l" indent="0" marL="0">
              <a:lnSpc>
                <a:spcPct val="120000"/>
              </a:lnSpc>
              <a:buNone/>
            </a:pPr>
            <a:r>
              <a:rPr lang="en-US" sz="1400" b="1" dirty="0">
                <a:solidFill>
                  <a:srgbClr val="2C5F2D"/>
                </a:solidFill>
                <a:latin typeface="Calibri" pitchFamily="34" charset="0"/>
                <a:ea typeface="Calibri" pitchFamily="34" charset="-122"/>
                <a:cs typeface="Calibri" pitchFamily="34" charset="-120"/>
              </a:rPr>
              <a:t>Food loss </a:t>
            </a:r>
            <a:pPr algn="l" indent="0" marL="0">
              <a:lnSpc>
                <a:spcPct val="120000"/>
              </a:lnSpc>
              <a:buNone/>
            </a:pPr>
            <a:r>
              <a:rPr lang="en-US" sz="1400" dirty="0">
                <a:solidFill>
                  <a:srgbClr val="2E2E2E"/>
                </a:solidFill>
                <a:latin typeface="Calibri" pitchFamily="34" charset="0"/>
                <a:ea typeface="Calibri" pitchFamily="34" charset="-122"/>
                <a:cs typeface="Calibri" pitchFamily="34" charset="-120"/>
              </a:rPr>
              <a:t>happens early, on farms and in factories, when crops spoil or get damaged before they reach us.
</a:t>
            </a:r>
            <a:pPr algn="l" indent="0" marL="0">
              <a:lnSpc>
                <a:spcPct val="120000"/>
              </a:lnSpc>
              <a:buNone/>
            </a:pPr>
            <a:r>
              <a:rPr lang="en-US" sz="1400" b="1" dirty="0">
                <a:solidFill>
                  <a:srgbClr val="2C5F2D"/>
                </a:solidFill>
                <a:latin typeface="Calibri" pitchFamily="34" charset="0"/>
                <a:ea typeface="Calibri" pitchFamily="34" charset="-122"/>
                <a:cs typeface="Calibri" pitchFamily="34" charset="-120"/>
              </a:rPr>
              <a:t>Food waste </a:t>
            </a:r>
            <a:pPr algn="l" indent="0" marL="0">
              <a:lnSpc>
                <a:spcPct val="120000"/>
              </a:lnSpc>
              <a:buNone/>
            </a:pPr>
            <a:r>
              <a:rPr lang="en-US" sz="1400" dirty="0">
                <a:solidFill>
                  <a:srgbClr val="2E2E2E"/>
                </a:solidFill>
                <a:latin typeface="Calibri" pitchFamily="34" charset="0"/>
                <a:ea typeface="Calibri" pitchFamily="34" charset="-122"/>
                <a:cs typeface="Calibri" pitchFamily="34" charset="-120"/>
              </a:rPr>
              <a:t>happens later, at grocery stores, restaurants, and in our own kitchens, when good food gets tossed.</a:t>
            </a:r>
            <a:endParaRPr lang="en-US" sz="1400" dirty="0"/>
          </a:p>
        </p:txBody>
      </p:sp>
      <p:sp>
        <p:nvSpPr>
          <p:cNvPr id="6" name="Shape 3"/>
          <p:cNvSpPr/>
          <p:nvPr/>
        </p:nvSpPr>
        <p:spPr>
          <a:xfrm>
            <a:off x="7360920" y="1463040"/>
            <a:ext cx="4251960" cy="1417320"/>
          </a:xfrm>
          <a:prstGeom prst="roundRect">
            <a:avLst>
              <a:gd name="adj" fmla="val 6452"/>
            </a:avLst>
          </a:prstGeom>
          <a:solidFill>
            <a:srgbClr val="F3F6EC"/>
          </a:solidFill>
          <a:ln w="12700">
            <a:solidFill>
              <a:srgbClr val="DDE3D2"/>
            </a:solidFill>
            <a:prstDash val="solid"/>
          </a:ln>
        </p:spPr>
      </p:sp>
      <p:sp>
        <p:nvSpPr>
          <p:cNvPr id="7" name="Text 4"/>
          <p:cNvSpPr/>
          <p:nvPr/>
        </p:nvSpPr>
        <p:spPr>
          <a:xfrm>
            <a:off x="7360920" y="1591056"/>
            <a:ext cx="1737360" cy="1188720"/>
          </a:xfrm>
          <a:prstGeom prst="rect">
            <a:avLst/>
          </a:prstGeom>
          <a:noFill/>
          <a:ln/>
        </p:spPr>
        <p:txBody>
          <a:bodyPr wrap="square" lIns="0" tIns="0" rIns="0" bIns="0" rtlCol="0" anchor="ctr"/>
          <a:lstStyle/>
          <a:p>
            <a:pPr algn="ctr" indent="0" marL="0">
              <a:lnSpc>
                <a:spcPct val="112000"/>
              </a:lnSpc>
              <a:buNone/>
            </a:pPr>
            <a:r>
              <a:rPr lang="en-US" sz="4000" b="1" dirty="0">
                <a:solidFill>
                  <a:srgbClr val="D8892B"/>
                </a:solidFill>
                <a:latin typeface="Georgia" pitchFamily="34" charset="0"/>
                <a:ea typeface="Georgia" pitchFamily="34" charset="-122"/>
                <a:cs typeface="Georgia" pitchFamily="34" charset="-120"/>
              </a:rPr>
              <a:t>1/3</a:t>
            </a:r>
            <a:endParaRPr lang="en-US" sz="4000" dirty="0"/>
          </a:p>
        </p:txBody>
      </p:sp>
      <p:sp>
        <p:nvSpPr>
          <p:cNvPr id="8" name="Text 5"/>
          <p:cNvSpPr/>
          <p:nvPr/>
        </p:nvSpPr>
        <p:spPr>
          <a:xfrm>
            <a:off x="9098280" y="1572768"/>
            <a:ext cx="2377440" cy="1188720"/>
          </a:xfrm>
          <a:prstGeom prst="rect">
            <a:avLst/>
          </a:prstGeom>
          <a:noFill/>
          <a:ln/>
        </p:spPr>
        <p:txBody>
          <a:bodyPr wrap="square" lIns="0" tIns="0" rIns="0" bIns="0" rtlCol="0" anchor="ctr"/>
          <a:lstStyle/>
          <a:p>
            <a:pPr algn="l" indent="0" marL="0">
              <a:lnSpc>
                <a:spcPct val="115000"/>
              </a:lnSpc>
              <a:buNone/>
            </a:pPr>
            <a:r>
              <a:rPr lang="en-US" sz="1300" dirty="0">
                <a:solidFill>
                  <a:srgbClr val="2E2E2E"/>
                </a:solidFill>
                <a:latin typeface="Calibri" pitchFamily="34" charset="0"/>
                <a:ea typeface="Calibri" pitchFamily="34" charset="-122"/>
                <a:cs typeface="Calibri" pitchFamily="34" charset="-120"/>
              </a:rPr>
              <a:t>of all food made worldwide is never eaten</a:t>
            </a:r>
            <a:endParaRPr lang="en-US" sz="1300" dirty="0"/>
          </a:p>
        </p:txBody>
      </p:sp>
      <p:sp>
        <p:nvSpPr>
          <p:cNvPr id="9" name="Shape 6"/>
          <p:cNvSpPr/>
          <p:nvPr/>
        </p:nvSpPr>
        <p:spPr>
          <a:xfrm>
            <a:off x="7360920" y="3063240"/>
            <a:ext cx="4251960" cy="1417320"/>
          </a:xfrm>
          <a:prstGeom prst="roundRect">
            <a:avLst>
              <a:gd name="adj" fmla="val 6452"/>
            </a:avLst>
          </a:prstGeom>
          <a:solidFill>
            <a:srgbClr val="F3F6EC"/>
          </a:solidFill>
          <a:ln w="12700">
            <a:solidFill>
              <a:srgbClr val="DDE3D2"/>
            </a:solidFill>
            <a:prstDash val="solid"/>
          </a:ln>
        </p:spPr>
      </p:sp>
      <p:sp>
        <p:nvSpPr>
          <p:cNvPr id="10" name="Text 7"/>
          <p:cNvSpPr/>
          <p:nvPr/>
        </p:nvSpPr>
        <p:spPr>
          <a:xfrm>
            <a:off x="7360920" y="3191256"/>
            <a:ext cx="1737360" cy="1188720"/>
          </a:xfrm>
          <a:prstGeom prst="rect">
            <a:avLst/>
          </a:prstGeom>
          <a:noFill/>
          <a:ln/>
        </p:spPr>
        <p:txBody>
          <a:bodyPr wrap="square" lIns="0" tIns="0" rIns="0" bIns="0" rtlCol="0" anchor="ctr"/>
          <a:lstStyle/>
          <a:p>
            <a:pPr algn="ctr" indent="0" marL="0">
              <a:lnSpc>
                <a:spcPct val="112000"/>
              </a:lnSpc>
              <a:buNone/>
            </a:pPr>
            <a:r>
              <a:rPr lang="en-US" sz="3000" b="1" dirty="0">
                <a:solidFill>
                  <a:srgbClr val="2C5F2D"/>
                </a:solidFill>
                <a:latin typeface="Georgia" pitchFamily="34" charset="0"/>
                <a:ea typeface="Georgia" pitchFamily="34" charset="-122"/>
                <a:cs typeface="Georgia" pitchFamily="34" charset="-120"/>
              </a:rPr>
              <a:t>30–40%</a:t>
            </a:r>
            <a:endParaRPr lang="en-US" sz="3000" dirty="0"/>
          </a:p>
        </p:txBody>
      </p:sp>
      <p:sp>
        <p:nvSpPr>
          <p:cNvPr id="11" name="Text 8"/>
          <p:cNvSpPr/>
          <p:nvPr/>
        </p:nvSpPr>
        <p:spPr>
          <a:xfrm>
            <a:off x="9098280" y="3172968"/>
            <a:ext cx="2377440" cy="1188720"/>
          </a:xfrm>
          <a:prstGeom prst="rect">
            <a:avLst/>
          </a:prstGeom>
          <a:noFill/>
          <a:ln/>
        </p:spPr>
        <p:txBody>
          <a:bodyPr wrap="square" lIns="0" tIns="0" rIns="0" bIns="0" rtlCol="0" anchor="ctr"/>
          <a:lstStyle/>
          <a:p>
            <a:pPr algn="l" indent="0" marL="0">
              <a:lnSpc>
                <a:spcPct val="115000"/>
              </a:lnSpc>
              <a:buNone/>
            </a:pPr>
            <a:r>
              <a:rPr lang="en-US" sz="1300" dirty="0">
                <a:solidFill>
                  <a:srgbClr val="2E2E2E"/>
                </a:solidFill>
                <a:latin typeface="Calibri" pitchFamily="34" charset="0"/>
                <a:ea typeface="Calibri" pitchFamily="34" charset="-122"/>
                <a:cs typeface="Calibri" pitchFamily="34" charset="-120"/>
              </a:rPr>
              <a:t>of the U.S. food supply is thrown out each year</a:t>
            </a:r>
            <a:endParaRPr lang="en-US" sz="1300" dirty="0"/>
          </a:p>
        </p:txBody>
      </p:sp>
      <p:sp>
        <p:nvSpPr>
          <p:cNvPr id="12" name="Text 9"/>
          <p:cNvSpPr/>
          <p:nvPr/>
        </p:nvSpPr>
        <p:spPr>
          <a:xfrm>
            <a:off x="548640" y="5074920"/>
            <a:ext cx="11094415" cy="1097280"/>
          </a:xfrm>
          <a:prstGeom prst="rect">
            <a:avLst/>
          </a:prstGeom>
          <a:noFill/>
          <a:ln/>
        </p:spPr>
        <p:txBody>
          <a:bodyPr wrap="square" lIns="0" tIns="0" rIns="0" bIns="0" rtlCol="0" anchor="t"/>
          <a:lstStyle/>
          <a:p>
            <a:pPr algn="l" indent="0" marL="0">
              <a:lnSpc>
                <a:spcPct val="120000"/>
              </a:lnSpc>
              <a:buNone/>
            </a:pPr>
            <a:r>
              <a:rPr lang="en-US" sz="1400" b="1" dirty="0">
                <a:solidFill>
                  <a:srgbClr val="1F3D1F"/>
                </a:solidFill>
                <a:latin typeface="Georgia" pitchFamily="34" charset="0"/>
                <a:ea typeface="Georgia" pitchFamily="34" charset="-122"/>
                <a:cs typeface="Georgia" pitchFamily="34" charset="-120"/>
              </a:rPr>
              <a:t>Why it counts as sustainability:  </a:t>
            </a:r>
            <a:pPr algn="l" indent="0" marL="0">
              <a:lnSpc>
                <a:spcPct val="120000"/>
              </a:lnSpc>
              <a:buNone/>
            </a:pPr>
            <a:r>
              <a:rPr lang="en-US" sz="1400" dirty="0">
                <a:solidFill>
                  <a:srgbClr val="2E2E2E"/>
                </a:solidFill>
                <a:latin typeface="Calibri" pitchFamily="34" charset="0"/>
                <a:ea typeface="Calibri" pitchFamily="34" charset="-122"/>
                <a:cs typeface="Calibri" pitchFamily="34" charset="-120"/>
              </a:rPr>
              <a:t>wasting food wastes everything used to make it, the water, land, fuel, and money, while people who need that food go without.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6908"/>
            <a:ext cx="640080" cy="640080"/>
          </a:xfrm>
          <a:prstGeom prst="ellipse">
            <a:avLst/>
          </a:prstGeom>
          <a:solidFill>
            <a:srgbClr val="2C5F2D"/>
          </a:solidFill>
          <a:ln/>
        </p:spPr>
      </p:sp>
      <p:pic>
        <p:nvPicPr>
          <p:cNvPr id="3" name="Image 0" descr="preencoded.png">    </p:cNvPr>
          <p:cNvPicPr>
            <a:picLocks noChangeAspect="1"/>
          </p:cNvPicPr>
          <p:nvPr/>
        </p:nvPicPr>
        <p:blipFill>
          <a:blip r:embed="rId1"/>
          <a:stretch>
            <a:fillRect/>
          </a:stretch>
        </p:blipFill>
        <p:spPr>
          <a:xfrm>
            <a:off x="722376" y="580644"/>
            <a:ext cx="292608" cy="292608"/>
          </a:xfrm>
          <a:prstGeom prst="rect">
            <a:avLst/>
          </a:prstGeom>
        </p:spPr>
      </p:pic>
      <p:sp>
        <p:nvSpPr>
          <p:cNvPr id="4" name="Text 1"/>
          <p:cNvSpPr/>
          <p:nvPr/>
        </p:nvSpPr>
        <p:spPr>
          <a:xfrm>
            <a:off x="1234440" y="384048"/>
            <a:ext cx="10454335" cy="685800"/>
          </a:xfrm>
          <a:prstGeom prst="rect">
            <a:avLst/>
          </a:prstGeom>
          <a:noFill/>
          <a:ln/>
        </p:spPr>
        <p:txBody>
          <a:bodyPr wrap="square" lIns="0" tIns="0" rIns="0" bIns="0" rtlCol="0" anchor="ctr"/>
          <a:lstStyle/>
          <a:p>
            <a:pPr algn="l" indent="0" marL="0">
              <a:lnSpc>
                <a:spcPct val="112000"/>
              </a:lnSpc>
              <a:buNone/>
            </a:pPr>
            <a:r>
              <a:rPr lang="en-US" sz="2800" b="1" dirty="0">
                <a:solidFill>
                  <a:srgbClr val="1F3D1F"/>
                </a:solidFill>
                <a:latin typeface="Georgia" pitchFamily="34" charset="0"/>
                <a:ea typeface="Georgia" pitchFamily="34" charset="-122"/>
                <a:cs typeface="Georgia" pitchFamily="34" charset="-120"/>
              </a:rPr>
              <a:t>Where Does It Happen?</a:t>
            </a:r>
            <a:endParaRPr lang="en-US" sz="2800" dirty="0"/>
          </a:p>
        </p:txBody>
      </p:sp>
      <p:sp>
        <p:nvSpPr>
          <p:cNvPr id="5" name="Text 2"/>
          <p:cNvSpPr/>
          <p:nvPr/>
        </p:nvSpPr>
        <p:spPr>
          <a:xfrm>
            <a:off x="548640" y="1234440"/>
            <a:ext cx="11094415" cy="457200"/>
          </a:xfrm>
          <a:prstGeom prst="rect">
            <a:avLst/>
          </a:prstGeom>
          <a:noFill/>
          <a:ln/>
        </p:spPr>
        <p:txBody>
          <a:bodyPr wrap="square" lIns="0" tIns="0" rIns="0" bIns="0" rtlCol="0" anchor="t"/>
          <a:lstStyle/>
          <a:p>
            <a:pPr algn="l" indent="0" marL="0">
              <a:lnSpc>
                <a:spcPct val="112000"/>
              </a:lnSpc>
              <a:buNone/>
            </a:pPr>
            <a:r>
              <a:rPr lang="en-US" sz="1400" i="1" dirty="0">
                <a:solidFill>
                  <a:srgbClr val="6E7566"/>
                </a:solidFill>
                <a:latin typeface="Calibri" pitchFamily="34" charset="0"/>
                <a:ea typeface="Calibri" pitchFamily="34" charset="-122"/>
                <a:cs typeface="Calibri" pitchFamily="34" charset="-120"/>
              </a:rPr>
              <a:t>Food is lost and wasted at every step, from the farm all the way to your plate.</a:t>
            </a:r>
            <a:endParaRPr lang="en-US" sz="1400" dirty="0"/>
          </a:p>
        </p:txBody>
      </p:sp>
      <p:sp>
        <p:nvSpPr>
          <p:cNvPr id="6" name="Shape 3"/>
          <p:cNvSpPr/>
          <p:nvPr/>
        </p:nvSpPr>
        <p:spPr>
          <a:xfrm>
            <a:off x="1737360" y="2697480"/>
            <a:ext cx="8961120" cy="0"/>
          </a:xfrm>
          <a:prstGeom prst="line">
            <a:avLst/>
          </a:prstGeom>
          <a:noFill/>
          <a:ln w="38100">
            <a:solidFill>
              <a:srgbClr val="DDE3D2"/>
            </a:solidFill>
            <a:prstDash val="solid"/>
          </a:ln>
        </p:spPr>
      </p:sp>
      <p:sp>
        <p:nvSpPr>
          <p:cNvPr id="7" name="Shape 4"/>
          <p:cNvSpPr/>
          <p:nvPr/>
        </p:nvSpPr>
        <p:spPr>
          <a:xfrm>
            <a:off x="1257300" y="2217420"/>
            <a:ext cx="960120" cy="960120"/>
          </a:xfrm>
          <a:prstGeom prst="ellipse">
            <a:avLst/>
          </a:prstGeom>
          <a:solidFill>
            <a:srgbClr val="2C5F2D"/>
          </a:solidFill>
          <a:ln/>
        </p:spPr>
      </p:sp>
      <p:pic>
        <p:nvPicPr>
          <p:cNvPr id="8" name="Image 1" descr="preencoded.png">    </p:cNvPr>
          <p:cNvPicPr>
            <a:picLocks noChangeAspect="1"/>
          </p:cNvPicPr>
          <p:nvPr/>
        </p:nvPicPr>
        <p:blipFill>
          <a:blip r:embed="rId2"/>
          <a:stretch>
            <a:fillRect/>
          </a:stretch>
        </p:blipFill>
        <p:spPr>
          <a:xfrm>
            <a:off x="1531620" y="2491740"/>
            <a:ext cx="411480" cy="411480"/>
          </a:xfrm>
          <a:prstGeom prst="rect">
            <a:avLst/>
          </a:prstGeom>
        </p:spPr>
      </p:pic>
      <p:sp>
        <p:nvSpPr>
          <p:cNvPr id="9" name="Text 5"/>
          <p:cNvSpPr/>
          <p:nvPr/>
        </p:nvSpPr>
        <p:spPr>
          <a:xfrm>
            <a:off x="731520" y="3319272"/>
            <a:ext cx="2011680" cy="365760"/>
          </a:xfrm>
          <a:prstGeom prst="rect">
            <a:avLst/>
          </a:prstGeom>
          <a:noFill/>
          <a:ln/>
        </p:spPr>
        <p:txBody>
          <a:bodyPr wrap="square" lIns="0" tIns="0" rIns="0" bIns="0" rtlCol="0" anchor="ctr"/>
          <a:lstStyle/>
          <a:p>
            <a:pPr algn="ctr" indent="0" marL="0">
              <a:lnSpc>
                <a:spcPct val="112000"/>
              </a:lnSpc>
              <a:buNone/>
            </a:pPr>
            <a:r>
              <a:rPr lang="en-US" sz="1300" b="1" dirty="0">
                <a:solidFill>
                  <a:srgbClr val="1F3D1F"/>
                </a:solidFill>
                <a:latin typeface="Calibri" pitchFamily="34" charset="0"/>
                <a:ea typeface="Calibri" pitchFamily="34" charset="-122"/>
                <a:cs typeface="Calibri" pitchFamily="34" charset="-120"/>
              </a:rPr>
              <a:t>Farms</a:t>
            </a:r>
            <a:endParaRPr lang="en-US" sz="1300" dirty="0"/>
          </a:p>
        </p:txBody>
      </p:sp>
      <p:sp>
        <p:nvSpPr>
          <p:cNvPr id="10" name="Shape 6"/>
          <p:cNvSpPr/>
          <p:nvPr/>
        </p:nvSpPr>
        <p:spPr>
          <a:xfrm>
            <a:off x="3497580" y="2217420"/>
            <a:ext cx="960120" cy="960120"/>
          </a:xfrm>
          <a:prstGeom prst="ellipse">
            <a:avLst/>
          </a:prstGeom>
          <a:solidFill>
            <a:srgbClr val="97BC62"/>
          </a:solidFill>
          <a:ln/>
        </p:spPr>
      </p:sp>
      <p:pic>
        <p:nvPicPr>
          <p:cNvPr id="11" name="Image 2" descr="preencoded.png">    </p:cNvPr>
          <p:cNvPicPr>
            <a:picLocks noChangeAspect="1"/>
          </p:cNvPicPr>
          <p:nvPr/>
        </p:nvPicPr>
        <p:blipFill>
          <a:blip r:embed="rId3"/>
          <a:stretch>
            <a:fillRect/>
          </a:stretch>
        </p:blipFill>
        <p:spPr>
          <a:xfrm>
            <a:off x="3771900" y="2491740"/>
            <a:ext cx="411480" cy="411480"/>
          </a:xfrm>
          <a:prstGeom prst="rect">
            <a:avLst/>
          </a:prstGeom>
        </p:spPr>
      </p:pic>
      <p:sp>
        <p:nvSpPr>
          <p:cNvPr id="12" name="Text 7"/>
          <p:cNvSpPr/>
          <p:nvPr/>
        </p:nvSpPr>
        <p:spPr>
          <a:xfrm>
            <a:off x="2971800" y="3319272"/>
            <a:ext cx="2011680" cy="365760"/>
          </a:xfrm>
          <a:prstGeom prst="rect">
            <a:avLst/>
          </a:prstGeom>
          <a:noFill/>
          <a:ln/>
        </p:spPr>
        <p:txBody>
          <a:bodyPr wrap="square" lIns="0" tIns="0" rIns="0" bIns="0" rtlCol="0" anchor="ctr"/>
          <a:lstStyle/>
          <a:p>
            <a:pPr algn="ctr" indent="0" marL="0">
              <a:lnSpc>
                <a:spcPct val="112000"/>
              </a:lnSpc>
              <a:buNone/>
            </a:pPr>
            <a:r>
              <a:rPr lang="en-US" sz="1300" b="1" dirty="0">
                <a:solidFill>
                  <a:srgbClr val="1F3D1F"/>
                </a:solidFill>
                <a:latin typeface="Calibri" pitchFamily="34" charset="0"/>
                <a:ea typeface="Calibri" pitchFamily="34" charset="-122"/>
                <a:cs typeface="Calibri" pitchFamily="34" charset="-120"/>
              </a:rPr>
              <a:t>Processing</a:t>
            </a:r>
            <a:endParaRPr lang="en-US" sz="1300" dirty="0"/>
          </a:p>
        </p:txBody>
      </p:sp>
      <p:sp>
        <p:nvSpPr>
          <p:cNvPr id="13" name="Shape 8"/>
          <p:cNvSpPr/>
          <p:nvPr/>
        </p:nvSpPr>
        <p:spPr>
          <a:xfrm>
            <a:off x="5737860" y="2217420"/>
            <a:ext cx="960120" cy="960120"/>
          </a:xfrm>
          <a:prstGeom prst="ellipse">
            <a:avLst/>
          </a:prstGeom>
          <a:solidFill>
            <a:srgbClr val="3E6E7A"/>
          </a:solidFill>
          <a:ln/>
        </p:spPr>
      </p:sp>
      <p:pic>
        <p:nvPicPr>
          <p:cNvPr id="14" name="Image 3" descr="preencoded.png">    </p:cNvPr>
          <p:cNvPicPr>
            <a:picLocks noChangeAspect="1"/>
          </p:cNvPicPr>
          <p:nvPr/>
        </p:nvPicPr>
        <p:blipFill>
          <a:blip r:embed="rId4"/>
          <a:stretch>
            <a:fillRect/>
          </a:stretch>
        </p:blipFill>
        <p:spPr>
          <a:xfrm>
            <a:off x="6012180" y="2491740"/>
            <a:ext cx="411480" cy="411480"/>
          </a:xfrm>
          <a:prstGeom prst="rect">
            <a:avLst/>
          </a:prstGeom>
        </p:spPr>
      </p:pic>
      <p:sp>
        <p:nvSpPr>
          <p:cNvPr id="15" name="Text 9"/>
          <p:cNvSpPr/>
          <p:nvPr/>
        </p:nvSpPr>
        <p:spPr>
          <a:xfrm>
            <a:off x="5212080" y="3319272"/>
            <a:ext cx="2011680" cy="365760"/>
          </a:xfrm>
          <a:prstGeom prst="rect">
            <a:avLst/>
          </a:prstGeom>
          <a:noFill/>
          <a:ln/>
        </p:spPr>
        <p:txBody>
          <a:bodyPr wrap="square" lIns="0" tIns="0" rIns="0" bIns="0" rtlCol="0" anchor="ctr"/>
          <a:lstStyle/>
          <a:p>
            <a:pPr algn="ctr" indent="0" marL="0">
              <a:lnSpc>
                <a:spcPct val="112000"/>
              </a:lnSpc>
              <a:buNone/>
            </a:pPr>
            <a:r>
              <a:rPr lang="en-US" sz="1300" b="1" dirty="0">
                <a:solidFill>
                  <a:srgbClr val="1F3D1F"/>
                </a:solidFill>
                <a:latin typeface="Calibri" pitchFamily="34" charset="0"/>
                <a:ea typeface="Calibri" pitchFamily="34" charset="-122"/>
                <a:cs typeface="Calibri" pitchFamily="34" charset="-120"/>
              </a:rPr>
              <a:t>Stores</a:t>
            </a:r>
            <a:endParaRPr lang="en-US" sz="1300" dirty="0"/>
          </a:p>
        </p:txBody>
      </p:sp>
      <p:sp>
        <p:nvSpPr>
          <p:cNvPr id="16" name="Shape 10"/>
          <p:cNvSpPr/>
          <p:nvPr/>
        </p:nvSpPr>
        <p:spPr>
          <a:xfrm>
            <a:off x="7978140" y="2217420"/>
            <a:ext cx="960120" cy="960120"/>
          </a:xfrm>
          <a:prstGeom prst="ellipse">
            <a:avLst/>
          </a:prstGeom>
          <a:solidFill>
            <a:srgbClr val="8A5A44"/>
          </a:solidFill>
          <a:ln/>
        </p:spPr>
      </p:sp>
      <p:pic>
        <p:nvPicPr>
          <p:cNvPr id="17" name="Image 4" descr="preencoded.png">    </p:cNvPr>
          <p:cNvPicPr>
            <a:picLocks noChangeAspect="1"/>
          </p:cNvPicPr>
          <p:nvPr/>
        </p:nvPicPr>
        <p:blipFill>
          <a:blip r:embed="rId5"/>
          <a:stretch>
            <a:fillRect/>
          </a:stretch>
        </p:blipFill>
        <p:spPr>
          <a:xfrm>
            <a:off x="8252460" y="2491740"/>
            <a:ext cx="411480" cy="411480"/>
          </a:xfrm>
          <a:prstGeom prst="rect">
            <a:avLst/>
          </a:prstGeom>
        </p:spPr>
      </p:pic>
      <p:sp>
        <p:nvSpPr>
          <p:cNvPr id="18" name="Text 11"/>
          <p:cNvSpPr/>
          <p:nvPr/>
        </p:nvSpPr>
        <p:spPr>
          <a:xfrm>
            <a:off x="7452360" y="3319272"/>
            <a:ext cx="2011680" cy="365760"/>
          </a:xfrm>
          <a:prstGeom prst="rect">
            <a:avLst/>
          </a:prstGeom>
          <a:noFill/>
          <a:ln/>
        </p:spPr>
        <p:txBody>
          <a:bodyPr wrap="square" lIns="0" tIns="0" rIns="0" bIns="0" rtlCol="0" anchor="ctr"/>
          <a:lstStyle/>
          <a:p>
            <a:pPr algn="ctr" indent="0" marL="0">
              <a:lnSpc>
                <a:spcPct val="112000"/>
              </a:lnSpc>
              <a:buNone/>
            </a:pPr>
            <a:r>
              <a:rPr lang="en-US" sz="1300" b="1" dirty="0">
                <a:solidFill>
                  <a:srgbClr val="1F3D1F"/>
                </a:solidFill>
                <a:latin typeface="Calibri" pitchFamily="34" charset="0"/>
                <a:ea typeface="Calibri" pitchFamily="34" charset="-122"/>
                <a:cs typeface="Calibri" pitchFamily="34" charset="-120"/>
              </a:rPr>
              <a:t>Restaurants</a:t>
            </a:r>
            <a:endParaRPr lang="en-US" sz="1300" dirty="0"/>
          </a:p>
        </p:txBody>
      </p:sp>
      <p:sp>
        <p:nvSpPr>
          <p:cNvPr id="19" name="Shape 12"/>
          <p:cNvSpPr/>
          <p:nvPr/>
        </p:nvSpPr>
        <p:spPr>
          <a:xfrm>
            <a:off x="10218420" y="2217420"/>
            <a:ext cx="960120" cy="960120"/>
          </a:xfrm>
          <a:prstGeom prst="ellipse">
            <a:avLst/>
          </a:prstGeom>
          <a:solidFill>
            <a:srgbClr val="D8892B"/>
          </a:solidFill>
          <a:ln/>
        </p:spPr>
      </p:sp>
      <p:pic>
        <p:nvPicPr>
          <p:cNvPr id="20" name="Image 5" descr="preencoded.png">    </p:cNvPr>
          <p:cNvPicPr>
            <a:picLocks noChangeAspect="1"/>
          </p:cNvPicPr>
          <p:nvPr/>
        </p:nvPicPr>
        <p:blipFill>
          <a:blip r:embed="rId6"/>
          <a:stretch>
            <a:fillRect/>
          </a:stretch>
        </p:blipFill>
        <p:spPr>
          <a:xfrm>
            <a:off x="10492740" y="2491740"/>
            <a:ext cx="411480" cy="411480"/>
          </a:xfrm>
          <a:prstGeom prst="rect">
            <a:avLst/>
          </a:prstGeom>
        </p:spPr>
      </p:pic>
      <p:sp>
        <p:nvSpPr>
          <p:cNvPr id="21" name="Text 13"/>
          <p:cNvSpPr/>
          <p:nvPr/>
        </p:nvSpPr>
        <p:spPr>
          <a:xfrm>
            <a:off x="9692640" y="3319272"/>
            <a:ext cx="2011680" cy="365760"/>
          </a:xfrm>
          <a:prstGeom prst="rect">
            <a:avLst/>
          </a:prstGeom>
          <a:noFill/>
          <a:ln/>
        </p:spPr>
        <p:txBody>
          <a:bodyPr wrap="square" lIns="0" tIns="0" rIns="0" bIns="0" rtlCol="0" anchor="ctr"/>
          <a:lstStyle/>
          <a:p>
            <a:pPr algn="ctr" indent="0" marL="0">
              <a:lnSpc>
                <a:spcPct val="112000"/>
              </a:lnSpc>
              <a:buNone/>
            </a:pPr>
            <a:r>
              <a:rPr lang="en-US" sz="1300" b="1" dirty="0">
                <a:solidFill>
                  <a:srgbClr val="1F3D1F"/>
                </a:solidFill>
                <a:latin typeface="Calibri" pitchFamily="34" charset="0"/>
                <a:ea typeface="Calibri" pitchFamily="34" charset="-122"/>
                <a:cs typeface="Calibri" pitchFamily="34" charset="-120"/>
              </a:rPr>
              <a:t>Homes</a:t>
            </a:r>
            <a:endParaRPr lang="en-US" sz="1300" dirty="0"/>
          </a:p>
        </p:txBody>
      </p:sp>
      <p:sp>
        <p:nvSpPr>
          <p:cNvPr id="22" name="Shape 14"/>
          <p:cNvSpPr/>
          <p:nvPr/>
        </p:nvSpPr>
        <p:spPr>
          <a:xfrm>
            <a:off x="548640" y="3794760"/>
            <a:ext cx="11094415" cy="868680"/>
          </a:xfrm>
          <a:prstGeom prst="roundRect">
            <a:avLst>
              <a:gd name="adj" fmla="val 10526"/>
            </a:avLst>
          </a:prstGeom>
          <a:solidFill>
            <a:srgbClr val="E6EEDB"/>
          </a:solidFill>
          <a:ln w="12700">
            <a:solidFill>
              <a:srgbClr val="97BC62"/>
            </a:solidFill>
            <a:prstDash val="solid"/>
          </a:ln>
        </p:spPr>
      </p:sp>
      <p:sp>
        <p:nvSpPr>
          <p:cNvPr id="23" name="Text 15"/>
          <p:cNvSpPr/>
          <p:nvPr/>
        </p:nvSpPr>
        <p:spPr>
          <a:xfrm>
            <a:off x="822960" y="3794760"/>
            <a:ext cx="10545775" cy="868680"/>
          </a:xfrm>
          <a:prstGeom prst="rect">
            <a:avLst/>
          </a:prstGeom>
          <a:noFill/>
          <a:ln/>
        </p:spPr>
        <p:txBody>
          <a:bodyPr wrap="square" lIns="0" tIns="0" rIns="0" bIns="0" rtlCol="0" anchor="ctr"/>
          <a:lstStyle/>
          <a:p>
            <a:pPr algn="l" indent="0" marL="0">
              <a:lnSpc>
                <a:spcPct val="110000"/>
              </a:lnSpc>
              <a:buNone/>
            </a:pPr>
            <a:r>
              <a:rPr lang="en-US" sz="1500" b="1" dirty="0">
                <a:solidFill>
                  <a:srgbClr val="2C5F2D"/>
                </a:solidFill>
                <a:latin typeface="Georgia" pitchFamily="34" charset="0"/>
                <a:ea typeface="Georgia" pitchFamily="34" charset="-122"/>
                <a:cs typeface="Georgia" pitchFamily="34" charset="-120"/>
              </a:rPr>
              <a:t>Homes are the #1 source of food waste in the U.S.  </a:t>
            </a:r>
            <a:pPr algn="l" indent="0" marL="0">
              <a:lnSpc>
                <a:spcPct val="110000"/>
              </a:lnSpc>
              <a:buNone/>
            </a:pPr>
            <a:r>
              <a:rPr lang="en-US" sz="1400" dirty="0">
                <a:solidFill>
                  <a:srgbClr val="2E2E2E"/>
                </a:solidFill>
                <a:latin typeface="Calibri" pitchFamily="34" charset="0"/>
                <a:ea typeface="Calibri" pitchFamily="34" charset="-122"/>
                <a:cs typeface="Calibri" pitchFamily="34" charset="-120"/>
              </a:rPr>
              <a:t>Roughly 40–50% of it happens after food reaches us.</a:t>
            </a:r>
            <a:endParaRPr lang="en-US" sz="1500" dirty="0"/>
          </a:p>
        </p:txBody>
      </p:sp>
      <p:sp>
        <p:nvSpPr>
          <p:cNvPr id="24" name="Text 16"/>
          <p:cNvSpPr/>
          <p:nvPr/>
        </p:nvSpPr>
        <p:spPr>
          <a:xfrm>
            <a:off x="548640" y="4983480"/>
            <a:ext cx="11094415" cy="1188720"/>
          </a:xfrm>
          <a:prstGeom prst="rect">
            <a:avLst/>
          </a:prstGeom>
          <a:noFill/>
          <a:ln/>
        </p:spPr>
        <p:txBody>
          <a:bodyPr wrap="square" lIns="0" tIns="0" rIns="0" bIns="0" rtlCol="0" anchor="t"/>
          <a:lstStyle/>
          <a:p>
            <a:pPr algn="l" indent="0" marL="0">
              <a:lnSpc>
                <a:spcPct val="122000"/>
              </a:lnSpc>
              <a:buNone/>
            </a:pPr>
            <a:r>
              <a:rPr lang="en-US" sz="1400" b="1" dirty="0">
                <a:solidFill>
                  <a:srgbClr val="1F3D1F"/>
                </a:solidFill>
                <a:latin typeface="Georgia" pitchFamily="34" charset="0"/>
                <a:ea typeface="Georgia" pitchFamily="34" charset="-122"/>
                <a:cs typeface="Georgia" pitchFamily="34" charset="-120"/>
              </a:rPr>
              <a:t>Why so much at home?  </a:t>
            </a:r>
            <a:pPr algn="l" indent="0" marL="0">
              <a:lnSpc>
                <a:spcPct val="122000"/>
              </a:lnSpc>
              <a:buNone/>
            </a:pPr>
            <a:r>
              <a:rPr lang="en-US" sz="1400" dirty="0">
                <a:solidFill>
                  <a:srgbClr val="2E2E2E"/>
                </a:solidFill>
                <a:latin typeface="Calibri" pitchFamily="34" charset="0"/>
                <a:ea typeface="Calibri" pitchFamily="34" charset="-122"/>
                <a:cs typeface="Calibri" pitchFamily="34" charset="-120"/>
              </a:rPr>
              <a:t>We tend to over-buy at the store, get confused by “sell by” and “best by” dates and toss food that is still fine, and cook bigger portions than we actually eat. Because this waste is so close to us, it is also some of the easiest to prevent.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6908"/>
            <a:ext cx="640080" cy="640080"/>
          </a:xfrm>
          <a:prstGeom prst="ellipse">
            <a:avLst/>
          </a:prstGeom>
          <a:solidFill>
            <a:srgbClr val="2C5F2D"/>
          </a:solidFill>
          <a:ln/>
        </p:spPr>
      </p:sp>
      <p:pic>
        <p:nvPicPr>
          <p:cNvPr id="3" name="Image 0" descr="preencoded.png">    </p:cNvPr>
          <p:cNvPicPr>
            <a:picLocks noChangeAspect="1"/>
          </p:cNvPicPr>
          <p:nvPr/>
        </p:nvPicPr>
        <p:blipFill>
          <a:blip r:embed="rId1"/>
          <a:stretch>
            <a:fillRect/>
          </a:stretch>
        </p:blipFill>
        <p:spPr>
          <a:xfrm>
            <a:off x="722376" y="580644"/>
            <a:ext cx="292608" cy="292608"/>
          </a:xfrm>
          <a:prstGeom prst="rect">
            <a:avLst/>
          </a:prstGeom>
        </p:spPr>
      </p:pic>
      <p:sp>
        <p:nvSpPr>
          <p:cNvPr id="4" name="Text 1"/>
          <p:cNvSpPr/>
          <p:nvPr/>
        </p:nvSpPr>
        <p:spPr>
          <a:xfrm>
            <a:off x="1234440" y="384048"/>
            <a:ext cx="10454335" cy="685800"/>
          </a:xfrm>
          <a:prstGeom prst="rect">
            <a:avLst/>
          </a:prstGeom>
          <a:noFill/>
          <a:ln/>
        </p:spPr>
        <p:txBody>
          <a:bodyPr wrap="square" lIns="0" tIns="0" rIns="0" bIns="0" rtlCol="0" anchor="ctr"/>
          <a:lstStyle/>
          <a:p>
            <a:pPr algn="l" indent="0" marL="0">
              <a:lnSpc>
                <a:spcPct val="112000"/>
              </a:lnSpc>
              <a:buNone/>
            </a:pPr>
            <a:r>
              <a:rPr lang="en-US" sz="2800" b="1" dirty="0">
                <a:solidFill>
                  <a:srgbClr val="1F3D1F"/>
                </a:solidFill>
                <a:latin typeface="Georgia" pitchFamily="34" charset="0"/>
                <a:ea typeface="Georgia" pitchFamily="34" charset="-122"/>
                <a:cs typeface="Georgia" pitchFamily="34" charset="-120"/>
              </a:rPr>
              <a:t>Why It Matters: The Impacts</a:t>
            </a:r>
            <a:endParaRPr lang="en-US" sz="2800" dirty="0"/>
          </a:p>
        </p:txBody>
      </p:sp>
      <p:sp>
        <p:nvSpPr>
          <p:cNvPr id="5" name="Shape 2"/>
          <p:cNvSpPr/>
          <p:nvPr/>
        </p:nvSpPr>
        <p:spPr>
          <a:xfrm>
            <a:off x="548640" y="1417320"/>
            <a:ext cx="3454298" cy="3840480"/>
          </a:xfrm>
          <a:prstGeom prst="roundRect">
            <a:avLst>
              <a:gd name="adj" fmla="val 2647"/>
            </a:avLst>
          </a:prstGeom>
          <a:solidFill>
            <a:srgbClr val="FFFFFF"/>
          </a:solidFill>
          <a:ln w="12700">
            <a:solidFill>
              <a:srgbClr val="DDE3D2"/>
            </a:solidFill>
            <a:prstDash val="solid"/>
          </a:ln>
          <a:effectLst>
            <a:outerShdw sx="100000" sy="100000" kx="0" ky="0" algn="bl" rotWithShape="0" blurRad="76200" dist="25400" dir="5400000">
              <a:srgbClr val="9AA394">
                <a:alpha val="35000"/>
              </a:srgbClr>
            </a:outerShdw>
          </a:effectLst>
        </p:spPr>
      </p:sp>
      <p:sp>
        <p:nvSpPr>
          <p:cNvPr id="6" name="Shape 3"/>
          <p:cNvSpPr/>
          <p:nvPr/>
        </p:nvSpPr>
        <p:spPr>
          <a:xfrm>
            <a:off x="1882597" y="1591056"/>
            <a:ext cx="786384" cy="786384"/>
          </a:xfrm>
          <a:prstGeom prst="ellipse">
            <a:avLst/>
          </a:prstGeom>
          <a:solidFill>
            <a:srgbClr val="8A5A44"/>
          </a:solidFill>
          <a:ln/>
        </p:spPr>
      </p:sp>
      <p:pic>
        <p:nvPicPr>
          <p:cNvPr id="7" name="Image 1" descr="preencoded.png">    </p:cNvPr>
          <p:cNvPicPr>
            <a:picLocks noChangeAspect="1"/>
          </p:cNvPicPr>
          <p:nvPr/>
        </p:nvPicPr>
        <p:blipFill>
          <a:blip r:embed="rId2"/>
          <a:stretch>
            <a:fillRect/>
          </a:stretch>
        </p:blipFill>
        <p:spPr>
          <a:xfrm>
            <a:off x="2102053" y="1810512"/>
            <a:ext cx="347472" cy="347472"/>
          </a:xfrm>
          <a:prstGeom prst="rect">
            <a:avLst/>
          </a:prstGeom>
        </p:spPr>
      </p:pic>
      <p:sp>
        <p:nvSpPr>
          <p:cNvPr id="8" name="Text 4"/>
          <p:cNvSpPr/>
          <p:nvPr/>
        </p:nvSpPr>
        <p:spPr>
          <a:xfrm>
            <a:off x="548640" y="2441448"/>
            <a:ext cx="3454298" cy="365760"/>
          </a:xfrm>
          <a:prstGeom prst="rect">
            <a:avLst/>
          </a:prstGeom>
          <a:noFill/>
          <a:ln/>
        </p:spPr>
        <p:txBody>
          <a:bodyPr wrap="square" lIns="0" tIns="0" rIns="0" bIns="0" rtlCol="0" anchor="ctr"/>
          <a:lstStyle/>
          <a:p>
            <a:pPr algn="ctr" indent="0" marL="0">
              <a:lnSpc>
                <a:spcPct val="112000"/>
              </a:lnSpc>
              <a:buNone/>
            </a:pPr>
            <a:r>
              <a:rPr lang="en-US" sz="1500" b="1" dirty="0">
                <a:solidFill>
                  <a:srgbClr val="1F3D1F"/>
                </a:solidFill>
                <a:latin typeface="Georgia" pitchFamily="34" charset="0"/>
                <a:ea typeface="Georgia" pitchFamily="34" charset="-122"/>
                <a:cs typeface="Georgia" pitchFamily="34" charset="-120"/>
              </a:rPr>
              <a:t>On People</a:t>
            </a:r>
            <a:endParaRPr lang="en-US" sz="1500" dirty="0"/>
          </a:p>
        </p:txBody>
      </p:sp>
      <p:sp>
        <p:nvSpPr>
          <p:cNvPr id="9" name="Text 5"/>
          <p:cNvSpPr/>
          <p:nvPr/>
        </p:nvSpPr>
        <p:spPr>
          <a:xfrm>
            <a:off x="786384" y="2898648"/>
            <a:ext cx="2978810" cy="2240280"/>
          </a:xfrm>
          <a:prstGeom prst="rect">
            <a:avLst/>
          </a:prstGeom>
          <a:noFill/>
          <a:ln/>
        </p:spPr>
        <p:txBody>
          <a:bodyPr wrap="square" lIns="0" tIns="0" rIns="0" bIns="0" rtlCol="0" anchor="t"/>
          <a:lstStyle/>
          <a:p>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Higher costs.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Wasted food costs the average U.S. family of four about $1,500 a year.
</a:t>
            </a:r>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Hunger nearby.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About 34 million Americans go hungry while edible food is thrown out.</a:t>
            </a:r>
            <a:endParaRPr lang="en-US" sz="1300" dirty="0"/>
          </a:p>
        </p:txBody>
      </p:sp>
      <p:sp>
        <p:nvSpPr>
          <p:cNvPr id="10" name="Shape 6"/>
          <p:cNvSpPr/>
          <p:nvPr/>
        </p:nvSpPr>
        <p:spPr>
          <a:xfrm>
            <a:off x="4368698" y="1417320"/>
            <a:ext cx="3454298" cy="3840480"/>
          </a:xfrm>
          <a:prstGeom prst="roundRect">
            <a:avLst>
              <a:gd name="adj" fmla="val 2647"/>
            </a:avLst>
          </a:prstGeom>
          <a:solidFill>
            <a:srgbClr val="FFFFFF"/>
          </a:solidFill>
          <a:ln w="12700">
            <a:solidFill>
              <a:srgbClr val="DDE3D2"/>
            </a:solidFill>
            <a:prstDash val="solid"/>
          </a:ln>
          <a:effectLst>
            <a:outerShdw sx="100000" sy="100000" kx="0" ky="0" algn="bl" rotWithShape="0" blurRad="76200" dist="25400" dir="5400000">
              <a:srgbClr val="9AA394">
                <a:alpha val="35000"/>
              </a:srgbClr>
            </a:outerShdw>
          </a:effectLst>
        </p:spPr>
      </p:sp>
      <p:sp>
        <p:nvSpPr>
          <p:cNvPr id="11" name="Shape 7"/>
          <p:cNvSpPr/>
          <p:nvPr/>
        </p:nvSpPr>
        <p:spPr>
          <a:xfrm>
            <a:off x="5702656" y="1591056"/>
            <a:ext cx="786384" cy="786384"/>
          </a:xfrm>
          <a:prstGeom prst="ellipse">
            <a:avLst/>
          </a:prstGeom>
          <a:solidFill>
            <a:srgbClr val="2C5F2D"/>
          </a:solidFill>
          <a:ln/>
        </p:spPr>
      </p:sp>
      <p:pic>
        <p:nvPicPr>
          <p:cNvPr id="12" name="Image 2" descr="preencoded.png">    </p:cNvPr>
          <p:cNvPicPr>
            <a:picLocks noChangeAspect="1"/>
          </p:cNvPicPr>
          <p:nvPr/>
        </p:nvPicPr>
        <p:blipFill>
          <a:blip r:embed="rId3"/>
          <a:stretch>
            <a:fillRect/>
          </a:stretch>
        </p:blipFill>
        <p:spPr>
          <a:xfrm>
            <a:off x="5922112" y="1810512"/>
            <a:ext cx="347472" cy="347472"/>
          </a:xfrm>
          <a:prstGeom prst="rect">
            <a:avLst/>
          </a:prstGeom>
        </p:spPr>
      </p:pic>
      <p:sp>
        <p:nvSpPr>
          <p:cNvPr id="13" name="Text 8"/>
          <p:cNvSpPr/>
          <p:nvPr/>
        </p:nvSpPr>
        <p:spPr>
          <a:xfrm>
            <a:off x="4368698" y="2441448"/>
            <a:ext cx="3454298" cy="365760"/>
          </a:xfrm>
          <a:prstGeom prst="rect">
            <a:avLst/>
          </a:prstGeom>
          <a:noFill/>
          <a:ln/>
        </p:spPr>
        <p:txBody>
          <a:bodyPr wrap="square" lIns="0" tIns="0" rIns="0" bIns="0" rtlCol="0" anchor="ctr"/>
          <a:lstStyle/>
          <a:p>
            <a:pPr algn="ctr" indent="0" marL="0">
              <a:lnSpc>
                <a:spcPct val="112000"/>
              </a:lnSpc>
              <a:buNone/>
            </a:pPr>
            <a:r>
              <a:rPr lang="en-US" sz="1500" b="1" dirty="0">
                <a:solidFill>
                  <a:srgbClr val="1F3D1F"/>
                </a:solidFill>
                <a:latin typeface="Georgia" pitchFamily="34" charset="0"/>
                <a:ea typeface="Georgia" pitchFamily="34" charset="-122"/>
                <a:cs typeface="Georgia" pitchFamily="34" charset="-120"/>
              </a:rPr>
              <a:t>On the Environment</a:t>
            </a:r>
            <a:endParaRPr lang="en-US" sz="1500" dirty="0"/>
          </a:p>
        </p:txBody>
      </p:sp>
      <p:sp>
        <p:nvSpPr>
          <p:cNvPr id="14" name="Text 9"/>
          <p:cNvSpPr/>
          <p:nvPr/>
        </p:nvSpPr>
        <p:spPr>
          <a:xfrm>
            <a:off x="4606442" y="2898648"/>
            <a:ext cx="2978810" cy="2240280"/>
          </a:xfrm>
          <a:prstGeom prst="rect">
            <a:avLst/>
          </a:prstGeom>
          <a:noFill/>
          <a:ln/>
        </p:spPr>
        <p:txBody>
          <a:bodyPr wrap="square" lIns="0" tIns="0" rIns="0" bIns="0" rtlCol="0" anchor="t"/>
          <a:lstStyle/>
          <a:p>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More emissions.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Food in landfills gives off methane and drives 8–10% of global greenhouse gases.
</a:t>
            </a:r>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Wasted resources.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It burns up water, land, and fuel used to grow food no one eats.</a:t>
            </a:r>
            <a:endParaRPr lang="en-US" sz="1300" dirty="0"/>
          </a:p>
        </p:txBody>
      </p:sp>
      <p:sp>
        <p:nvSpPr>
          <p:cNvPr id="15" name="Shape 10"/>
          <p:cNvSpPr/>
          <p:nvPr/>
        </p:nvSpPr>
        <p:spPr>
          <a:xfrm>
            <a:off x="8188757" y="1417320"/>
            <a:ext cx="3454298" cy="3840480"/>
          </a:xfrm>
          <a:prstGeom prst="roundRect">
            <a:avLst>
              <a:gd name="adj" fmla="val 2647"/>
            </a:avLst>
          </a:prstGeom>
          <a:solidFill>
            <a:srgbClr val="FFFFFF"/>
          </a:solidFill>
          <a:ln w="12700">
            <a:solidFill>
              <a:srgbClr val="DDE3D2"/>
            </a:solidFill>
            <a:prstDash val="solid"/>
          </a:ln>
          <a:effectLst>
            <a:outerShdw sx="100000" sy="100000" kx="0" ky="0" algn="bl" rotWithShape="0" blurRad="76200" dist="25400" dir="5400000">
              <a:srgbClr val="9AA394">
                <a:alpha val="35000"/>
              </a:srgbClr>
            </a:outerShdw>
          </a:effectLst>
        </p:spPr>
      </p:sp>
      <p:sp>
        <p:nvSpPr>
          <p:cNvPr id="16" name="Shape 11"/>
          <p:cNvSpPr/>
          <p:nvPr/>
        </p:nvSpPr>
        <p:spPr>
          <a:xfrm>
            <a:off x="9522714" y="1591056"/>
            <a:ext cx="786384" cy="786384"/>
          </a:xfrm>
          <a:prstGeom prst="ellipse">
            <a:avLst/>
          </a:prstGeom>
          <a:solidFill>
            <a:srgbClr val="3E6E7A"/>
          </a:solidFill>
          <a:ln/>
        </p:spPr>
      </p:sp>
      <p:pic>
        <p:nvPicPr>
          <p:cNvPr id="17" name="Image 3" descr="preencoded.png">    </p:cNvPr>
          <p:cNvPicPr>
            <a:picLocks noChangeAspect="1"/>
          </p:cNvPicPr>
          <p:nvPr/>
        </p:nvPicPr>
        <p:blipFill>
          <a:blip r:embed="rId4"/>
          <a:stretch>
            <a:fillRect/>
          </a:stretch>
        </p:blipFill>
        <p:spPr>
          <a:xfrm>
            <a:off x="9742170" y="1810512"/>
            <a:ext cx="347472" cy="347472"/>
          </a:xfrm>
          <a:prstGeom prst="rect">
            <a:avLst/>
          </a:prstGeom>
        </p:spPr>
      </p:pic>
      <p:sp>
        <p:nvSpPr>
          <p:cNvPr id="18" name="Text 12"/>
          <p:cNvSpPr/>
          <p:nvPr/>
        </p:nvSpPr>
        <p:spPr>
          <a:xfrm>
            <a:off x="8188757" y="2441448"/>
            <a:ext cx="3454298" cy="365760"/>
          </a:xfrm>
          <a:prstGeom prst="rect">
            <a:avLst/>
          </a:prstGeom>
          <a:noFill/>
          <a:ln/>
        </p:spPr>
        <p:txBody>
          <a:bodyPr wrap="square" lIns="0" tIns="0" rIns="0" bIns="0" rtlCol="0" anchor="ctr"/>
          <a:lstStyle/>
          <a:p>
            <a:pPr algn="ctr" indent="0" marL="0">
              <a:lnSpc>
                <a:spcPct val="112000"/>
              </a:lnSpc>
              <a:buNone/>
            </a:pPr>
            <a:r>
              <a:rPr lang="en-US" sz="1500" b="1" dirty="0">
                <a:solidFill>
                  <a:srgbClr val="1F3D1F"/>
                </a:solidFill>
                <a:latin typeface="Georgia" pitchFamily="34" charset="0"/>
                <a:ea typeface="Georgia" pitchFamily="34" charset="-122"/>
                <a:cs typeface="Georgia" pitchFamily="34" charset="-120"/>
              </a:rPr>
              <a:t>On Wildlife</a:t>
            </a:r>
            <a:endParaRPr lang="en-US" sz="1500" dirty="0"/>
          </a:p>
        </p:txBody>
      </p:sp>
      <p:sp>
        <p:nvSpPr>
          <p:cNvPr id="19" name="Text 13"/>
          <p:cNvSpPr/>
          <p:nvPr/>
        </p:nvSpPr>
        <p:spPr>
          <a:xfrm>
            <a:off x="8426501" y="2898648"/>
            <a:ext cx="2978810" cy="2240280"/>
          </a:xfrm>
          <a:prstGeom prst="rect">
            <a:avLst/>
          </a:prstGeom>
          <a:noFill/>
          <a:ln/>
        </p:spPr>
        <p:txBody>
          <a:bodyPr wrap="square" lIns="0" tIns="0" rIns="0" bIns="0" rtlCol="0" anchor="t"/>
          <a:lstStyle/>
          <a:p>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Lost habitat.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Clearing land for food we never eat destroys homes for wildlife.
</a:t>
            </a:r>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Polluted water.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Fertilizer runoff creates ocean “dead zones” where fish cannot survive.</a:t>
            </a:r>
            <a:endParaRPr lang="en-US" sz="1300" dirty="0"/>
          </a:p>
        </p:txBody>
      </p:sp>
      <p:sp>
        <p:nvSpPr>
          <p:cNvPr id="20" name="Shape 14"/>
          <p:cNvSpPr/>
          <p:nvPr/>
        </p:nvSpPr>
        <p:spPr>
          <a:xfrm>
            <a:off x="548640" y="5532120"/>
            <a:ext cx="11094415" cy="685800"/>
          </a:xfrm>
          <a:prstGeom prst="roundRect">
            <a:avLst>
              <a:gd name="adj" fmla="val 12000"/>
            </a:avLst>
          </a:prstGeom>
          <a:solidFill>
            <a:srgbClr val="E6EEDB"/>
          </a:solidFill>
          <a:ln/>
        </p:spPr>
      </p:sp>
      <p:sp>
        <p:nvSpPr>
          <p:cNvPr id="21" name="Text 15"/>
          <p:cNvSpPr/>
          <p:nvPr/>
        </p:nvSpPr>
        <p:spPr>
          <a:xfrm>
            <a:off x="822960" y="5532120"/>
            <a:ext cx="10545775" cy="685800"/>
          </a:xfrm>
          <a:prstGeom prst="rect">
            <a:avLst/>
          </a:prstGeom>
          <a:noFill/>
          <a:ln/>
        </p:spPr>
        <p:txBody>
          <a:bodyPr wrap="square" lIns="0" tIns="0" rIns="0" bIns="0" rtlCol="0" anchor="ctr"/>
          <a:lstStyle/>
          <a:p>
            <a:pPr algn="l" indent="0" marL="0">
              <a:lnSpc>
                <a:spcPct val="112000"/>
              </a:lnSpc>
              <a:buNone/>
            </a:pPr>
            <a:r>
              <a:rPr lang="en-US" sz="1400" b="1" dirty="0">
                <a:solidFill>
                  <a:srgbClr val="2C5F2D"/>
                </a:solidFill>
                <a:latin typeface="Georgia" pitchFamily="34" charset="0"/>
                <a:ea typeface="Georgia" pitchFamily="34" charset="-122"/>
                <a:cs typeface="Georgia" pitchFamily="34" charset="-120"/>
              </a:rPr>
              <a:t>The Three E's:  </a:t>
            </a:r>
            <a:pPr algn="l" indent="0" marL="0">
              <a:lnSpc>
                <a:spcPct val="112000"/>
              </a:lnSpc>
              <a:buNone/>
            </a:pPr>
            <a:r>
              <a:rPr lang="en-US" sz="1350" dirty="0">
                <a:solidFill>
                  <a:srgbClr val="2E2E2E"/>
                </a:solidFill>
                <a:latin typeface="Calibri" pitchFamily="34" charset="0"/>
                <a:ea typeface="Calibri" pitchFamily="34" charset="-122"/>
                <a:cs typeface="Calibri" pitchFamily="34" charset="-120"/>
              </a:rPr>
              <a:t>these impacts hit the Economy (money and resources), the Environment (emissions and habitat), and Equity (people going hungry) all at the same time.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6908"/>
            <a:ext cx="640080" cy="640080"/>
          </a:xfrm>
          <a:prstGeom prst="ellipse">
            <a:avLst/>
          </a:prstGeom>
          <a:solidFill>
            <a:srgbClr val="2C5F2D"/>
          </a:solidFill>
          <a:ln/>
        </p:spPr>
      </p:sp>
      <p:pic>
        <p:nvPicPr>
          <p:cNvPr id="3" name="Image 0" descr="preencoded.png">    </p:cNvPr>
          <p:cNvPicPr>
            <a:picLocks noChangeAspect="1"/>
          </p:cNvPicPr>
          <p:nvPr/>
        </p:nvPicPr>
        <p:blipFill>
          <a:blip r:embed="rId1"/>
          <a:stretch>
            <a:fillRect/>
          </a:stretch>
        </p:blipFill>
        <p:spPr>
          <a:xfrm>
            <a:off x="722376" y="580644"/>
            <a:ext cx="292608" cy="292608"/>
          </a:xfrm>
          <a:prstGeom prst="rect">
            <a:avLst/>
          </a:prstGeom>
        </p:spPr>
      </p:pic>
      <p:sp>
        <p:nvSpPr>
          <p:cNvPr id="4" name="Text 1"/>
          <p:cNvSpPr/>
          <p:nvPr/>
        </p:nvSpPr>
        <p:spPr>
          <a:xfrm>
            <a:off x="1234440" y="384048"/>
            <a:ext cx="10454335" cy="685800"/>
          </a:xfrm>
          <a:prstGeom prst="rect">
            <a:avLst/>
          </a:prstGeom>
          <a:noFill/>
          <a:ln/>
        </p:spPr>
        <p:txBody>
          <a:bodyPr wrap="square" lIns="0" tIns="0" rIns="0" bIns="0" rtlCol="0" anchor="ctr"/>
          <a:lstStyle/>
          <a:p>
            <a:pPr algn="l" indent="0" marL="0">
              <a:lnSpc>
                <a:spcPct val="112000"/>
              </a:lnSpc>
              <a:buNone/>
            </a:pPr>
            <a:r>
              <a:rPr lang="en-US" sz="2800" b="1" dirty="0">
                <a:solidFill>
                  <a:srgbClr val="1F3D1F"/>
                </a:solidFill>
                <a:latin typeface="Georgia" pitchFamily="34" charset="0"/>
                <a:ea typeface="Georgia" pitchFamily="34" charset="-122"/>
                <a:cs typeface="Georgia" pitchFamily="34" charset="-120"/>
              </a:rPr>
              <a:t>Solutions at Every Level</a:t>
            </a:r>
            <a:endParaRPr lang="en-US" sz="2800" dirty="0"/>
          </a:p>
        </p:txBody>
      </p:sp>
      <p:sp>
        <p:nvSpPr>
          <p:cNvPr id="5" name="Shape 2"/>
          <p:cNvSpPr/>
          <p:nvPr/>
        </p:nvSpPr>
        <p:spPr>
          <a:xfrm>
            <a:off x="548640" y="1417320"/>
            <a:ext cx="3454298" cy="4114800"/>
          </a:xfrm>
          <a:prstGeom prst="roundRect">
            <a:avLst>
              <a:gd name="adj" fmla="val 2647"/>
            </a:avLst>
          </a:prstGeom>
          <a:solidFill>
            <a:srgbClr val="FFFFFF"/>
          </a:solidFill>
          <a:ln w="12700">
            <a:solidFill>
              <a:srgbClr val="DDE3D2"/>
            </a:solidFill>
            <a:prstDash val="solid"/>
          </a:ln>
          <a:effectLst>
            <a:outerShdw sx="100000" sy="100000" kx="0" ky="0" algn="bl" rotWithShape="0" blurRad="76200" dist="25400" dir="5400000">
              <a:srgbClr val="9AA394">
                <a:alpha val="35000"/>
              </a:srgbClr>
            </a:outerShdw>
          </a:effectLst>
        </p:spPr>
      </p:sp>
      <p:sp>
        <p:nvSpPr>
          <p:cNvPr id="6" name="Shape 3"/>
          <p:cNvSpPr/>
          <p:nvPr/>
        </p:nvSpPr>
        <p:spPr>
          <a:xfrm>
            <a:off x="1882597" y="1591056"/>
            <a:ext cx="786384" cy="786384"/>
          </a:xfrm>
          <a:prstGeom prst="ellipse">
            <a:avLst/>
          </a:prstGeom>
          <a:solidFill>
            <a:srgbClr val="2C5F2D"/>
          </a:solidFill>
          <a:ln/>
        </p:spPr>
      </p:sp>
      <p:pic>
        <p:nvPicPr>
          <p:cNvPr id="7" name="Image 1" descr="preencoded.png">    </p:cNvPr>
          <p:cNvPicPr>
            <a:picLocks noChangeAspect="1"/>
          </p:cNvPicPr>
          <p:nvPr/>
        </p:nvPicPr>
        <p:blipFill>
          <a:blip r:embed="rId2"/>
          <a:stretch>
            <a:fillRect/>
          </a:stretch>
        </p:blipFill>
        <p:spPr>
          <a:xfrm>
            <a:off x="2102053" y="1810512"/>
            <a:ext cx="347472" cy="347472"/>
          </a:xfrm>
          <a:prstGeom prst="rect">
            <a:avLst/>
          </a:prstGeom>
        </p:spPr>
      </p:pic>
      <p:sp>
        <p:nvSpPr>
          <p:cNvPr id="8" name="Text 4"/>
          <p:cNvSpPr/>
          <p:nvPr/>
        </p:nvSpPr>
        <p:spPr>
          <a:xfrm>
            <a:off x="548640" y="2441448"/>
            <a:ext cx="3454298" cy="365760"/>
          </a:xfrm>
          <a:prstGeom prst="rect">
            <a:avLst/>
          </a:prstGeom>
          <a:noFill/>
          <a:ln/>
        </p:spPr>
        <p:txBody>
          <a:bodyPr wrap="square" lIns="0" tIns="0" rIns="0" bIns="0" rtlCol="0" anchor="ctr"/>
          <a:lstStyle/>
          <a:p>
            <a:pPr algn="ctr" indent="0" marL="0">
              <a:lnSpc>
                <a:spcPct val="112000"/>
              </a:lnSpc>
              <a:buNone/>
            </a:pPr>
            <a:r>
              <a:rPr lang="en-US" sz="1500" b="1" dirty="0">
                <a:solidFill>
                  <a:srgbClr val="1F3D1F"/>
                </a:solidFill>
                <a:latin typeface="Georgia" pitchFamily="34" charset="0"/>
                <a:ea typeface="Georgia" pitchFamily="34" charset="-122"/>
                <a:cs typeface="Georgia" pitchFamily="34" charset="-120"/>
              </a:rPr>
              <a:t>Individual</a:t>
            </a:r>
            <a:endParaRPr lang="en-US" sz="1500" dirty="0"/>
          </a:p>
        </p:txBody>
      </p:sp>
      <p:sp>
        <p:nvSpPr>
          <p:cNvPr id="9" name="Text 5"/>
          <p:cNvSpPr/>
          <p:nvPr/>
        </p:nvSpPr>
        <p:spPr>
          <a:xfrm>
            <a:off x="786384" y="2898648"/>
            <a:ext cx="2978810" cy="2514600"/>
          </a:xfrm>
          <a:prstGeom prst="rect">
            <a:avLst/>
          </a:prstGeom>
          <a:noFill/>
          <a:ln/>
        </p:spPr>
        <p:txBody>
          <a:bodyPr wrap="square" lIns="0" tIns="0" rIns="0" bIns="0" rtlCol="0" anchor="t"/>
          <a:lstStyle/>
          <a:p>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Shop smart.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Make a meal plan and a list so you only buy what you will use.
</a:t>
            </a:r>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Store &amp; reuse.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Keep food fresh, eat leftovers, and treat “best by” as quality, not safety.</a:t>
            </a:r>
            <a:endParaRPr lang="en-US" sz="1300" dirty="0"/>
          </a:p>
        </p:txBody>
      </p:sp>
      <p:sp>
        <p:nvSpPr>
          <p:cNvPr id="10" name="Shape 6"/>
          <p:cNvSpPr/>
          <p:nvPr/>
        </p:nvSpPr>
        <p:spPr>
          <a:xfrm>
            <a:off x="4368698" y="1417320"/>
            <a:ext cx="3454298" cy="4114800"/>
          </a:xfrm>
          <a:prstGeom prst="roundRect">
            <a:avLst>
              <a:gd name="adj" fmla="val 2647"/>
            </a:avLst>
          </a:prstGeom>
          <a:solidFill>
            <a:srgbClr val="FFFFFF"/>
          </a:solidFill>
          <a:ln w="12700">
            <a:solidFill>
              <a:srgbClr val="DDE3D2"/>
            </a:solidFill>
            <a:prstDash val="solid"/>
          </a:ln>
          <a:effectLst>
            <a:outerShdw sx="100000" sy="100000" kx="0" ky="0" algn="bl" rotWithShape="0" blurRad="76200" dist="25400" dir="5400000">
              <a:srgbClr val="9AA394">
                <a:alpha val="35000"/>
              </a:srgbClr>
            </a:outerShdw>
          </a:effectLst>
        </p:spPr>
      </p:sp>
      <p:sp>
        <p:nvSpPr>
          <p:cNvPr id="11" name="Shape 7"/>
          <p:cNvSpPr/>
          <p:nvPr/>
        </p:nvSpPr>
        <p:spPr>
          <a:xfrm>
            <a:off x="5702656" y="1591056"/>
            <a:ext cx="786384" cy="786384"/>
          </a:xfrm>
          <a:prstGeom prst="ellipse">
            <a:avLst/>
          </a:prstGeom>
          <a:solidFill>
            <a:srgbClr val="D8892B"/>
          </a:solidFill>
          <a:ln/>
        </p:spPr>
      </p:sp>
      <p:pic>
        <p:nvPicPr>
          <p:cNvPr id="12" name="Image 2" descr="preencoded.png">    </p:cNvPr>
          <p:cNvPicPr>
            <a:picLocks noChangeAspect="1"/>
          </p:cNvPicPr>
          <p:nvPr/>
        </p:nvPicPr>
        <p:blipFill>
          <a:blip r:embed="rId3"/>
          <a:stretch>
            <a:fillRect/>
          </a:stretch>
        </p:blipFill>
        <p:spPr>
          <a:xfrm>
            <a:off x="5922112" y="1810512"/>
            <a:ext cx="347472" cy="347472"/>
          </a:xfrm>
          <a:prstGeom prst="rect">
            <a:avLst/>
          </a:prstGeom>
        </p:spPr>
      </p:pic>
      <p:sp>
        <p:nvSpPr>
          <p:cNvPr id="13" name="Text 8"/>
          <p:cNvSpPr/>
          <p:nvPr/>
        </p:nvSpPr>
        <p:spPr>
          <a:xfrm>
            <a:off x="4368698" y="2441448"/>
            <a:ext cx="3454298" cy="365760"/>
          </a:xfrm>
          <a:prstGeom prst="rect">
            <a:avLst/>
          </a:prstGeom>
          <a:noFill/>
          <a:ln/>
        </p:spPr>
        <p:txBody>
          <a:bodyPr wrap="square" lIns="0" tIns="0" rIns="0" bIns="0" rtlCol="0" anchor="ctr"/>
          <a:lstStyle/>
          <a:p>
            <a:pPr algn="ctr" indent="0" marL="0">
              <a:lnSpc>
                <a:spcPct val="112000"/>
              </a:lnSpc>
              <a:buNone/>
            </a:pPr>
            <a:r>
              <a:rPr lang="en-US" sz="1500" b="1" dirty="0">
                <a:solidFill>
                  <a:srgbClr val="1F3D1F"/>
                </a:solidFill>
                <a:latin typeface="Georgia" pitchFamily="34" charset="0"/>
                <a:ea typeface="Georgia" pitchFamily="34" charset="-122"/>
                <a:cs typeface="Georgia" pitchFamily="34" charset="-120"/>
              </a:rPr>
              <a:t>Local &amp; National</a:t>
            </a:r>
            <a:endParaRPr lang="en-US" sz="1500" dirty="0"/>
          </a:p>
        </p:txBody>
      </p:sp>
      <p:sp>
        <p:nvSpPr>
          <p:cNvPr id="14" name="Text 9"/>
          <p:cNvSpPr/>
          <p:nvPr/>
        </p:nvSpPr>
        <p:spPr>
          <a:xfrm>
            <a:off x="4606442" y="2898648"/>
            <a:ext cx="2978810" cy="2514600"/>
          </a:xfrm>
          <a:prstGeom prst="rect">
            <a:avLst/>
          </a:prstGeom>
          <a:noFill/>
          <a:ln/>
        </p:spPr>
        <p:txBody>
          <a:bodyPr wrap="square" lIns="0" tIns="0" rIns="0" bIns="0" rtlCol="0" anchor="t"/>
          <a:lstStyle/>
          <a:p>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Curbside composting.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Cities can collect scraps and turn them into soil, not landfill.
</a:t>
            </a:r>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Donation laws &amp; labels.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Rules and clear dates help stores send extra food to food banks.</a:t>
            </a:r>
            <a:endParaRPr lang="en-US" sz="1300" dirty="0"/>
          </a:p>
        </p:txBody>
      </p:sp>
      <p:sp>
        <p:nvSpPr>
          <p:cNvPr id="15" name="Shape 10"/>
          <p:cNvSpPr/>
          <p:nvPr/>
        </p:nvSpPr>
        <p:spPr>
          <a:xfrm>
            <a:off x="8188757" y="1417320"/>
            <a:ext cx="3454298" cy="4114800"/>
          </a:xfrm>
          <a:prstGeom prst="roundRect">
            <a:avLst>
              <a:gd name="adj" fmla="val 2647"/>
            </a:avLst>
          </a:prstGeom>
          <a:solidFill>
            <a:srgbClr val="FFFFFF"/>
          </a:solidFill>
          <a:ln w="12700">
            <a:solidFill>
              <a:srgbClr val="DDE3D2"/>
            </a:solidFill>
            <a:prstDash val="solid"/>
          </a:ln>
          <a:effectLst>
            <a:outerShdw sx="100000" sy="100000" kx="0" ky="0" algn="bl" rotWithShape="0" blurRad="76200" dist="25400" dir="5400000">
              <a:srgbClr val="9AA394">
                <a:alpha val="35000"/>
              </a:srgbClr>
            </a:outerShdw>
          </a:effectLst>
        </p:spPr>
      </p:sp>
      <p:sp>
        <p:nvSpPr>
          <p:cNvPr id="16" name="Shape 11"/>
          <p:cNvSpPr/>
          <p:nvPr/>
        </p:nvSpPr>
        <p:spPr>
          <a:xfrm>
            <a:off x="9522714" y="1591056"/>
            <a:ext cx="786384" cy="786384"/>
          </a:xfrm>
          <a:prstGeom prst="ellipse">
            <a:avLst/>
          </a:prstGeom>
          <a:solidFill>
            <a:srgbClr val="3E6E7A"/>
          </a:solidFill>
          <a:ln/>
        </p:spPr>
      </p:sp>
      <p:pic>
        <p:nvPicPr>
          <p:cNvPr id="17" name="Image 3" descr="preencoded.png">    </p:cNvPr>
          <p:cNvPicPr>
            <a:picLocks noChangeAspect="1"/>
          </p:cNvPicPr>
          <p:nvPr/>
        </p:nvPicPr>
        <p:blipFill>
          <a:blip r:embed="rId4"/>
          <a:stretch>
            <a:fillRect/>
          </a:stretch>
        </p:blipFill>
        <p:spPr>
          <a:xfrm>
            <a:off x="9742170" y="1810512"/>
            <a:ext cx="347472" cy="347472"/>
          </a:xfrm>
          <a:prstGeom prst="rect">
            <a:avLst/>
          </a:prstGeom>
        </p:spPr>
      </p:pic>
      <p:sp>
        <p:nvSpPr>
          <p:cNvPr id="18" name="Text 12"/>
          <p:cNvSpPr/>
          <p:nvPr/>
        </p:nvSpPr>
        <p:spPr>
          <a:xfrm>
            <a:off x="8188757" y="2441448"/>
            <a:ext cx="3454298" cy="365760"/>
          </a:xfrm>
          <a:prstGeom prst="rect">
            <a:avLst/>
          </a:prstGeom>
          <a:noFill/>
          <a:ln/>
        </p:spPr>
        <p:txBody>
          <a:bodyPr wrap="square" lIns="0" tIns="0" rIns="0" bIns="0" rtlCol="0" anchor="ctr"/>
          <a:lstStyle/>
          <a:p>
            <a:pPr algn="ctr" indent="0" marL="0">
              <a:lnSpc>
                <a:spcPct val="112000"/>
              </a:lnSpc>
              <a:buNone/>
            </a:pPr>
            <a:r>
              <a:rPr lang="en-US" sz="1500" b="1" dirty="0">
                <a:solidFill>
                  <a:srgbClr val="1F3D1F"/>
                </a:solidFill>
                <a:latin typeface="Georgia" pitchFamily="34" charset="0"/>
                <a:ea typeface="Georgia" pitchFamily="34" charset="-122"/>
                <a:cs typeface="Georgia" pitchFamily="34" charset="-120"/>
              </a:rPr>
              <a:t>Global</a:t>
            </a:r>
            <a:endParaRPr lang="en-US" sz="1500" dirty="0"/>
          </a:p>
        </p:txBody>
      </p:sp>
      <p:sp>
        <p:nvSpPr>
          <p:cNvPr id="19" name="Text 13"/>
          <p:cNvSpPr/>
          <p:nvPr/>
        </p:nvSpPr>
        <p:spPr>
          <a:xfrm>
            <a:off x="8426501" y="2898648"/>
            <a:ext cx="2978810" cy="2514600"/>
          </a:xfrm>
          <a:prstGeom prst="rect">
            <a:avLst/>
          </a:prstGeom>
          <a:noFill/>
          <a:ln/>
        </p:spPr>
        <p:txBody>
          <a:bodyPr wrap="square" lIns="0" tIns="0" rIns="0" bIns="0" rtlCol="0" anchor="t"/>
          <a:lstStyle/>
          <a:p>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Better storage.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Fund refrigeration and transport so food does not spoil in transit.
</a:t>
            </a:r>
            <a:pPr algn="l" indent="0" marL="0">
              <a:lnSpc>
                <a:spcPct val="116000"/>
              </a:lnSpc>
              <a:buNone/>
            </a:pPr>
            <a:r>
              <a:rPr lang="en-US" sz="1300" b="1" dirty="0">
                <a:solidFill>
                  <a:srgbClr val="97BC62"/>
                </a:solidFill>
                <a:latin typeface="Calibri" pitchFamily="34" charset="0"/>
                <a:ea typeface="Calibri" pitchFamily="34" charset="-122"/>
                <a:cs typeface="Calibri" pitchFamily="34" charset="-120"/>
              </a:rPr>
              <a:t>•  </a:t>
            </a:r>
            <a:pPr algn="l" indent="0" marL="0">
              <a:lnSpc>
                <a:spcPct val="116000"/>
              </a:lnSpc>
              <a:buNone/>
            </a:pPr>
            <a:r>
              <a:rPr lang="en-US" sz="1250" b="1" dirty="0">
                <a:solidFill>
                  <a:srgbClr val="2C5F2D"/>
                </a:solidFill>
                <a:latin typeface="Calibri" pitchFamily="34" charset="0"/>
                <a:ea typeface="Calibri" pitchFamily="34" charset="-122"/>
                <a:cs typeface="Calibri" pitchFamily="34" charset="-120"/>
              </a:rPr>
              <a:t>Shared goals. </a:t>
            </a:r>
            <a:pPr algn="l" indent="0" marL="0">
              <a:lnSpc>
                <a:spcPct val="116000"/>
              </a:lnSpc>
              <a:buNone/>
            </a:pPr>
            <a:r>
              <a:rPr lang="en-US" sz="1250" dirty="0">
                <a:solidFill>
                  <a:srgbClr val="2E2E2E"/>
                </a:solidFill>
                <a:latin typeface="Calibri" pitchFamily="34" charset="0"/>
                <a:ea typeface="Calibri" pitchFamily="34" charset="-122"/>
                <a:cs typeface="Calibri" pitchFamily="34" charset="-120"/>
              </a:rPr>
              <a:t>Back the UN target to cut food waste in half by 2030.</a:t>
            </a:r>
            <a:endParaRPr lang="en-US" sz="1300" dirty="0"/>
          </a:p>
        </p:txBody>
      </p:sp>
      <p:sp>
        <p:nvSpPr>
          <p:cNvPr id="20" name="Text 14"/>
          <p:cNvSpPr/>
          <p:nvPr/>
        </p:nvSpPr>
        <p:spPr>
          <a:xfrm>
            <a:off x="548640" y="5806440"/>
            <a:ext cx="11094415" cy="548640"/>
          </a:xfrm>
          <a:prstGeom prst="rect">
            <a:avLst/>
          </a:prstGeom>
          <a:noFill/>
          <a:ln/>
        </p:spPr>
        <p:txBody>
          <a:bodyPr wrap="square" lIns="0" tIns="0" rIns="0" bIns="0" rtlCol="0" anchor="ctr"/>
          <a:lstStyle/>
          <a:p>
            <a:pPr algn="l" indent="0" marL="0">
              <a:lnSpc>
                <a:spcPct val="112000"/>
              </a:lnSpc>
              <a:buNone/>
            </a:pPr>
            <a:r>
              <a:rPr lang="en-US" sz="1400" b="1" dirty="0">
                <a:solidFill>
                  <a:srgbClr val="1F3D1F"/>
                </a:solidFill>
                <a:latin typeface="Georgia" pitchFamily="34" charset="0"/>
                <a:ea typeface="Georgia" pitchFamily="34" charset="-122"/>
                <a:cs typeface="Georgia" pitchFamily="34" charset="-120"/>
              </a:rPr>
              <a:t>The takeaway:  </a:t>
            </a:r>
            <a:pPr algn="l" indent="0" marL="0">
              <a:lnSpc>
                <a:spcPct val="112000"/>
              </a:lnSpc>
              <a:buNone/>
            </a:pPr>
            <a:r>
              <a:rPr lang="en-US" sz="1400" dirty="0">
                <a:solidFill>
                  <a:srgbClr val="2E2E2E"/>
                </a:solidFill>
                <a:latin typeface="Calibri" pitchFamily="34" charset="0"/>
                <a:ea typeface="Calibri" pitchFamily="34" charset="-122"/>
                <a:cs typeface="Calibri" pitchFamily="34" charset="-120"/>
              </a:rPr>
              <a:t>no single fix solves this. Real progress needs action from all of us, our leaders, and the world together.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6908"/>
            <a:ext cx="640080" cy="640080"/>
          </a:xfrm>
          <a:prstGeom prst="ellipse">
            <a:avLst/>
          </a:prstGeom>
          <a:solidFill>
            <a:srgbClr val="3E6E7A"/>
          </a:solidFill>
          <a:ln/>
        </p:spPr>
      </p:sp>
      <p:pic>
        <p:nvPicPr>
          <p:cNvPr id="3" name="Image 0" descr="preencoded.png">    </p:cNvPr>
          <p:cNvPicPr>
            <a:picLocks noChangeAspect="1"/>
          </p:cNvPicPr>
          <p:nvPr/>
        </p:nvPicPr>
        <p:blipFill>
          <a:blip r:embed="rId1"/>
          <a:stretch>
            <a:fillRect/>
          </a:stretch>
        </p:blipFill>
        <p:spPr>
          <a:xfrm>
            <a:off x="722376" y="580644"/>
            <a:ext cx="292608" cy="292608"/>
          </a:xfrm>
          <a:prstGeom prst="rect">
            <a:avLst/>
          </a:prstGeom>
        </p:spPr>
      </p:pic>
      <p:sp>
        <p:nvSpPr>
          <p:cNvPr id="4" name="Text 1"/>
          <p:cNvSpPr/>
          <p:nvPr/>
        </p:nvSpPr>
        <p:spPr>
          <a:xfrm>
            <a:off x="1234440" y="384048"/>
            <a:ext cx="10454335" cy="685800"/>
          </a:xfrm>
          <a:prstGeom prst="rect">
            <a:avLst/>
          </a:prstGeom>
          <a:noFill/>
          <a:ln/>
        </p:spPr>
        <p:txBody>
          <a:bodyPr wrap="square" lIns="0" tIns="0" rIns="0" bIns="0" rtlCol="0" anchor="ctr"/>
          <a:lstStyle/>
          <a:p>
            <a:pPr algn="l" indent="0" marL="0">
              <a:lnSpc>
                <a:spcPct val="112000"/>
              </a:lnSpc>
              <a:buNone/>
            </a:pPr>
            <a:r>
              <a:rPr lang="en-US" sz="2800" b="1" dirty="0">
                <a:solidFill>
                  <a:srgbClr val="1F3D1F"/>
                </a:solidFill>
                <a:latin typeface="Georgia" pitchFamily="34" charset="0"/>
                <a:ea typeface="Georgia" pitchFamily="34" charset="-122"/>
                <a:cs typeface="Georgia" pitchFamily="34" charset="-120"/>
              </a:rPr>
              <a:t>Rating the Top 3 on the Three E's</a:t>
            </a:r>
            <a:endParaRPr lang="en-US" sz="2800" dirty="0"/>
          </a:p>
        </p:txBody>
      </p:sp>
      <p:sp>
        <p:nvSpPr>
          <p:cNvPr id="5" name="Text 2"/>
          <p:cNvSpPr/>
          <p:nvPr/>
        </p:nvSpPr>
        <p:spPr>
          <a:xfrm>
            <a:off x="548640" y="1234440"/>
            <a:ext cx="11094415" cy="365760"/>
          </a:xfrm>
          <a:prstGeom prst="rect">
            <a:avLst/>
          </a:prstGeom>
          <a:noFill/>
          <a:ln/>
        </p:spPr>
        <p:txBody>
          <a:bodyPr wrap="square" lIns="0" tIns="0" rIns="0" bIns="0" rtlCol="0" anchor="t"/>
          <a:lstStyle/>
          <a:p>
            <a:pPr algn="l" indent="0" marL="0">
              <a:lnSpc>
                <a:spcPct val="112000"/>
              </a:lnSpc>
              <a:buNone/>
            </a:pPr>
            <a:r>
              <a:rPr lang="en-US" sz="1350" i="1" dirty="0">
                <a:solidFill>
                  <a:srgbClr val="6E7566"/>
                </a:solidFill>
                <a:latin typeface="Calibri" pitchFamily="34" charset="0"/>
                <a:ea typeface="Calibri" pitchFamily="34" charset="-122"/>
                <a:cs typeface="Calibri" pitchFamily="34" charset="-120"/>
              </a:rPr>
              <a:t>My three highest-impact solutions, weighed against Environment, Economy, and Equity.</a:t>
            </a:r>
            <a:endParaRPr lang="en-US" sz="1350" dirty="0"/>
          </a:p>
        </p:txBody>
      </p:sp>
      <p:sp>
        <p:nvSpPr>
          <p:cNvPr id="6" name="Shape 3"/>
          <p:cNvSpPr/>
          <p:nvPr/>
        </p:nvSpPr>
        <p:spPr>
          <a:xfrm>
            <a:off x="548640" y="1737360"/>
            <a:ext cx="3017520" cy="457200"/>
          </a:xfrm>
          <a:prstGeom prst="rect">
            <a:avLst/>
          </a:prstGeom>
          <a:solidFill>
            <a:srgbClr val="2C5F2D"/>
          </a:solidFill>
          <a:ln w="12700">
            <a:solidFill>
              <a:srgbClr val="DDE3D2"/>
            </a:solidFill>
            <a:prstDash val="solid"/>
          </a:ln>
        </p:spPr>
      </p:sp>
      <p:sp>
        <p:nvSpPr>
          <p:cNvPr id="7" name="Text 4"/>
          <p:cNvSpPr/>
          <p:nvPr/>
        </p:nvSpPr>
        <p:spPr>
          <a:xfrm>
            <a:off x="548640" y="1737360"/>
            <a:ext cx="3017520" cy="457200"/>
          </a:xfrm>
          <a:prstGeom prst="rect">
            <a:avLst/>
          </a:prstGeom>
          <a:noFill/>
          <a:ln/>
        </p:spPr>
        <p:txBody>
          <a:bodyPr wrap="square" lIns="1270" tIns="1270" rIns="1270" bIns="1270" rtlCol="0" anchor="ctr"/>
          <a:lstStyle/>
          <a:p>
            <a:pPr algn="l" indent="0" marL="0">
              <a:lnSpc>
                <a:spcPct val="112000"/>
              </a:lnSpc>
              <a:buNone/>
            </a:pPr>
            <a:r>
              <a:rPr lang="en-US" sz="1300" b="1" dirty="0">
                <a:solidFill>
                  <a:srgbClr val="FFFFFF"/>
                </a:solidFill>
                <a:latin typeface="Calibri" pitchFamily="34" charset="0"/>
                <a:ea typeface="Calibri" pitchFamily="34" charset="-122"/>
                <a:cs typeface="Calibri" pitchFamily="34" charset="-120"/>
              </a:rPr>
              <a:t>Top Solution</a:t>
            </a:r>
            <a:endParaRPr lang="en-US" sz="1300" dirty="0"/>
          </a:p>
        </p:txBody>
      </p:sp>
      <p:sp>
        <p:nvSpPr>
          <p:cNvPr id="8" name="Shape 5"/>
          <p:cNvSpPr/>
          <p:nvPr/>
        </p:nvSpPr>
        <p:spPr>
          <a:xfrm>
            <a:off x="3566160" y="1737360"/>
            <a:ext cx="2688336" cy="457200"/>
          </a:xfrm>
          <a:prstGeom prst="rect">
            <a:avLst/>
          </a:prstGeom>
          <a:solidFill>
            <a:srgbClr val="2C5F2D"/>
          </a:solidFill>
          <a:ln w="12700">
            <a:solidFill>
              <a:srgbClr val="DDE3D2"/>
            </a:solidFill>
            <a:prstDash val="solid"/>
          </a:ln>
        </p:spPr>
      </p:sp>
      <p:sp>
        <p:nvSpPr>
          <p:cNvPr id="9" name="Text 6"/>
          <p:cNvSpPr/>
          <p:nvPr/>
        </p:nvSpPr>
        <p:spPr>
          <a:xfrm>
            <a:off x="3566160" y="1737360"/>
            <a:ext cx="2688336" cy="457200"/>
          </a:xfrm>
          <a:prstGeom prst="rect">
            <a:avLst/>
          </a:prstGeom>
          <a:noFill/>
          <a:ln/>
        </p:spPr>
        <p:txBody>
          <a:bodyPr wrap="square" lIns="1270" tIns="1270" rIns="1270" bIns="1270" rtlCol="0" anchor="ctr"/>
          <a:lstStyle/>
          <a:p>
            <a:pPr algn="ctr" indent="0" marL="0">
              <a:lnSpc>
                <a:spcPct val="112000"/>
              </a:lnSpc>
              <a:buNone/>
            </a:pPr>
            <a:r>
              <a:rPr lang="en-US" sz="1300" b="1" dirty="0">
                <a:solidFill>
                  <a:srgbClr val="FFFFFF"/>
                </a:solidFill>
                <a:latin typeface="Calibri" pitchFamily="34" charset="0"/>
                <a:ea typeface="Calibri" pitchFamily="34" charset="-122"/>
                <a:cs typeface="Calibri" pitchFamily="34" charset="-120"/>
              </a:rPr>
              <a:t>Environment</a:t>
            </a:r>
            <a:endParaRPr lang="en-US" sz="1300" dirty="0"/>
          </a:p>
        </p:txBody>
      </p:sp>
      <p:sp>
        <p:nvSpPr>
          <p:cNvPr id="10" name="Shape 7"/>
          <p:cNvSpPr/>
          <p:nvPr/>
        </p:nvSpPr>
        <p:spPr>
          <a:xfrm>
            <a:off x="6254496" y="1737360"/>
            <a:ext cx="2688336" cy="457200"/>
          </a:xfrm>
          <a:prstGeom prst="rect">
            <a:avLst/>
          </a:prstGeom>
          <a:solidFill>
            <a:srgbClr val="2C5F2D"/>
          </a:solidFill>
          <a:ln w="12700">
            <a:solidFill>
              <a:srgbClr val="DDE3D2"/>
            </a:solidFill>
            <a:prstDash val="solid"/>
          </a:ln>
        </p:spPr>
      </p:sp>
      <p:sp>
        <p:nvSpPr>
          <p:cNvPr id="11" name="Text 8"/>
          <p:cNvSpPr/>
          <p:nvPr/>
        </p:nvSpPr>
        <p:spPr>
          <a:xfrm>
            <a:off x="6254496" y="1737360"/>
            <a:ext cx="2688336" cy="457200"/>
          </a:xfrm>
          <a:prstGeom prst="rect">
            <a:avLst/>
          </a:prstGeom>
          <a:noFill/>
          <a:ln/>
        </p:spPr>
        <p:txBody>
          <a:bodyPr wrap="square" lIns="1270" tIns="1270" rIns="1270" bIns="1270" rtlCol="0" anchor="ctr"/>
          <a:lstStyle/>
          <a:p>
            <a:pPr algn="ctr" indent="0" marL="0">
              <a:lnSpc>
                <a:spcPct val="112000"/>
              </a:lnSpc>
              <a:buNone/>
            </a:pPr>
            <a:r>
              <a:rPr lang="en-US" sz="1300" b="1" dirty="0">
                <a:solidFill>
                  <a:srgbClr val="FFFFFF"/>
                </a:solidFill>
                <a:latin typeface="Calibri" pitchFamily="34" charset="0"/>
                <a:ea typeface="Calibri" pitchFamily="34" charset="-122"/>
                <a:cs typeface="Calibri" pitchFamily="34" charset="-120"/>
              </a:rPr>
              <a:t>Economy</a:t>
            </a:r>
            <a:endParaRPr lang="en-US" sz="1300" dirty="0"/>
          </a:p>
        </p:txBody>
      </p:sp>
      <p:sp>
        <p:nvSpPr>
          <p:cNvPr id="12" name="Shape 9"/>
          <p:cNvSpPr/>
          <p:nvPr/>
        </p:nvSpPr>
        <p:spPr>
          <a:xfrm>
            <a:off x="8942832" y="1737360"/>
            <a:ext cx="2697480" cy="457200"/>
          </a:xfrm>
          <a:prstGeom prst="rect">
            <a:avLst/>
          </a:prstGeom>
          <a:solidFill>
            <a:srgbClr val="2C5F2D"/>
          </a:solidFill>
          <a:ln w="12700">
            <a:solidFill>
              <a:srgbClr val="DDE3D2"/>
            </a:solidFill>
            <a:prstDash val="solid"/>
          </a:ln>
        </p:spPr>
      </p:sp>
      <p:sp>
        <p:nvSpPr>
          <p:cNvPr id="13" name="Text 10"/>
          <p:cNvSpPr/>
          <p:nvPr/>
        </p:nvSpPr>
        <p:spPr>
          <a:xfrm>
            <a:off x="8942832" y="1737360"/>
            <a:ext cx="2697480" cy="457200"/>
          </a:xfrm>
          <a:prstGeom prst="rect">
            <a:avLst/>
          </a:prstGeom>
          <a:noFill/>
          <a:ln/>
        </p:spPr>
        <p:txBody>
          <a:bodyPr wrap="square" lIns="1270" tIns="1270" rIns="1270" bIns="1270" rtlCol="0" anchor="ctr"/>
          <a:lstStyle/>
          <a:p>
            <a:pPr algn="ctr" indent="0" marL="0">
              <a:lnSpc>
                <a:spcPct val="112000"/>
              </a:lnSpc>
              <a:buNone/>
            </a:pPr>
            <a:r>
              <a:rPr lang="en-US" sz="1300" b="1" dirty="0">
                <a:solidFill>
                  <a:srgbClr val="FFFFFF"/>
                </a:solidFill>
                <a:latin typeface="Calibri" pitchFamily="34" charset="0"/>
                <a:ea typeface="Calibri" pitchFamily="34" charset="-122"/>
                <a:cs typeface="Calibri" pitchFamily="34" charset="-120"/>
              </a:rPr>
              <a:t>Equity</a:t>
            </a:r>
            <a:endParaRPr lang="en-US" sz="1300" dirty="0"/>
          </a:p>
        </p:txBody>
      </p:sp>
      <p:sp>
        <p:nvSpPr>
          <p:cNvPr id="14" name="Shape 11"/>
          <p:cNvSpPr/>
          <p:nvPr/>
        </p:nvSpPr>
        <p:spPr>
          <a:xfrm>
            <a:off x="548640" y="2194560"/>
            <a:ext cx="3017520" cy="1170432"/>
          </a:xfrm>
          <a:prstGeom prst="rect">
            <a:avLst/>
          </a:prstGeom>
          <a:solidFill>
            <a:srgbClr val="F3F6EC"/>
          </a:solidFill>
          <a:ln w="12700">
            <a:solidFill>
              <a:srgbClr val="DDE3D2"/>
            </a:solidFill>
            <a:prstDash val="solid"/>
          </a:ln>
        </p:spPr>
      </p:sp>
      <p:sp>
        <p:nvSpPr>
          <p:cNvPr id="15" name="Text 12"/>
          <p:cNvSpPr/>
          <p:nvPr/>
        </p:nvSpPr>
        <p:spPr>
          <a:xfrm>
            <a:off x="658368" y="2194560"/>
            <a:ext cx="2798064" cy="1170432"/>
          </a:xfrm>
          <a:prstGeom prst="rect">
            <a:avLst/>
          </a:prstGeom>
          <a:noFill/>
          <a:ln/>
        </p:spPr>
        <p:txBody>
          <a:bodyPr wrap="square" lIns="0" tIns="0" rIns="0" bIns="0" rtlCol="0" anchor="ctr"/>
          <a:lstStyle/>
          <a:p>
            <a:pPr algn="l" indent="0" marL="0">
              <a:lnSpc>
                <a:spcPct val="110000"/>
              </a:lnSpc>
              <a:buNone/>
            </a:pPr>
            <a:r>
              <a:rPr lang="en-US" sz="1250" b="1" dirty="0">
                <a:solidFill>
                  <a:srgbClr val="1F3D1F"/>
                </a:solidFill>
                <a:latin typeface="Georgia" pitchFamily="34" charset="0"/>
                <a:ea typeface="Georgia" pitchFamily="34" charset="-122"/>
                <a:cs typeface="Georgia" pitchFamily="34" charset="-120"/>
              </a:rPr>
              <a:t>Donation laws to rescue surplus food</a:t>
            </a:r>
            <a:endParaRPr lang="en-US" sz="1250" dirty="0"/>
          </a:p>
        </p:txBody>
      </p:sp>
      <p:sp>
        <p:nvSpPr>
          <p:cNvPr id="16" name="Shape 13"/>
          <p:cNvSpPr/>
          <p:nvPr/>
        </p:nvSpPr>
        <p:spPr>
          <a:xfrm>
            <a:off x="3566160" y="2194560"/>
            <a:ext cx="2688336" cy="1170432"/>
          </a:xfrm>
          <a:prstGeom prst="rect">
            <a:avLst/>
          </a:prstGeom>
          <a:solidFill>
            <a:srgbClr val="FFFFFF"/>
          </a:solidFill>
          <a:ln w="12700">
            <a:solidFill>
              <a:srgbClr val="DDE3D2"/>
            </a:solidFill>
            <a:prstDash val="solid"/>
          </a:ln>
        </p:spPr>
      </p:sp>
      <p:sp>
        <p:nvSpPr>
          <p:cNvPr id="17" name="Text 14"/>
          <p:cNvSpPr/>
          <p:nvPr/>
        </p:nvSpPr>
        <p:spPr>
          <a:xfrm>
            <a:off x="3675888" y="2286000"/>
            <a:ext cx="2468880" cy="987552"/>
          </a:xfrm>
          <a:prstGeom prst="rect">
            <a:avLst/>
          </a:prstGeom>
          <a:noFill/>
          <a:ln/>
        </p:spPr>
        <p:txBody>
          <a:bodyPr wrap="square" lIns="0" tIns="0" rIns="0" bIns="0" rtlCol="0" anchor="t"/>
          <a:lstStyle/>
          <a:p>
            <a:pPr algn="l" indent="0" marL="0">
              <a:lnSpc>
                <a:spcPct val="110000"/>
              </a:lnSpc>
              <a:buNone/>
            </a:pPr>
            <a:r>
              <a:rPr lang="en-US" sz="1300" b="1" dirty="0">
                <a:solidFill>
                  <a:srgbClr val="2C5F2D"/>
                </a:solidFill>
                <a:latin typeface="Calibri" pitchFamily="34" charset="0"/>
                <a:ea typeface="Calibri" pitchFamily="34" charset="-122"/>
                <a:cs typeface="Calibri" pitchFamily="34" charset="-120"/>
              </a:rPr>
              <a:t>HIGH
</a:t>
            </a:r>
            <a:pPr algn="l" indent="0" marL="0">
              <a:lnSpc>
                <a:spcPct val="110000"/>
              </a:lnSpc>
              <a:buNone/>
            </a:pPr>
            <a:r>
              <a:rPr lang="en-US" sz="1050" dirty="0">
                <a:solidFill>
                  <a:srgbClr val="2E2E2E"/>
                </a:solidFill>
                <a:latin typeface="Calibri" pitchFamily="34" charset="0"/>
                <a:ea typeface="Calibri" pitchFamily="34" charset="-122"/>
                <a:cs typeface="Calibri" pitchFamily="34" charset="-120"/>
              </a:rPr>
              <a:t>Keeps edible food out of landfills and cuts methane.</a:t>
            </a:r>
            <a:endParaRPr lang="en-US" sz="1300" dirty="0"/>
          </a:p>
        </p:txBody>
      </p:sp>
      <p:sp>
        <p:nvSpPr>
          <p:cNvPr id="18" name="Shape 15"/>
          <p:cNvSpPr/>
          <p:nvPr/>
        </p:nvSpPr>
        <p:spPr>
          <a:xfrm>
            <a:off x="6254496" y="2194560"/>
            <a:ext cx="2688336" cy="1170432"/>
          </a:xfrm>
          <a:prstGeom prst="rect">
            <a:avLst/>
          </a:prstGeom>
          <a:solidFill>
            <a:srgbClr val="FFFFFF"/>
          </a:solidFill>
          <a:ln w="12700">
            <a:solidFill>
              <a:srgbClr val="DDE3D2"/>
            </a:solidFill>
            <a:prstDash val="solid"/>
          </a:ln>
        </p:spPr>
      </p:sp>
      <p:sp>
        <p:nvSpPr>
          <p:cNvPr id="19" name="Text 16"/>
          <p:cNvSpPr/>
          <p:nvPr/>
        </p:nvSpPr>
        <p:spPr>
          <a:xfrm>
            <a:off x="6364224" y="2286000"/>
            <a:ext cx="2468880" cy="987552"/>
          </a:xfrm>
          <a:prstGeom prst="rect">
            <a:avLst/>
          </a:prstGeom>
          <a:noFill/>
          <a:ln/>
        </p:spPr>
        <p:txBody>
          <a:bodyPr wrap="square" lIns="0" tIns="0" rIns="0" bIns="0" rtlCol="0" anchor="t"/>
          <a:lstStyle/>
          <a:p>
            <a:pPr algn="l" indent="0" marL="0">
              <a:lnSpc>
                <a:spcPct val="110000"/>
              </a:lnSpc>
              <a:buNone/>
            </a:pPr>
            <a:r>
              <a:rPr lang="en-US" sz="1300" b="1" dirty="0">
                <a:solidFill>
                  <a:srgbClr val="D8892B"/>
                </a:solidFill>
                <a:latin typeface="Calibri" pitchFamily="34" charset="0"/>
                <a:ea typeface="Calibri" pitchFamily="34" charset="-122"/>
                <a:cs typeface="Calibri" pitchFamily="34" charset="-120"/>
              </a:rPr>
              <a:t>MED
</a:t>
            </a:r>
            <a:pPr algn="l" indent="0" marL="0">
              <a:lnSpc>
                <a:spcPct val="110000"/>
              </a:lnSpc>
              <a:buNone/>
            </a:pPr>
            <a:r>
              <a:rPr lang="en-US" sz="1050" dirty="0">
                <a:solidFill>
                  <a:srgbClr val="2E2E2E"/>
                </a:solidFill>
                <a:latin typeface="Calibri" pitchFamily="34" charset="0"/>
                <a:ea typeface="Calibri" pitchFamily="34" charset="-122"/>
                <a:cs typeface="Calibri" pitchFamily="34" charset="-120"/>
              </a:rPr>
              <a:t>Costs money to move and store, but tax breaks help donors.</a:t>
            </a:r>
            <a:endParaRPr lang="en-US" sz="1300" dirty="0"/>
          </a:p>
        </p:txBody>
      </p:sp>
      <p:sp>
        <p:nvSpPr>
          <p:cNvPr id="20" name="Shape 17"/>
          <p:cNvSpPr/>
          <p:nvPr/>
        </p:nvSpPr>
        <p:spPr>
          <a:xfrm>
            <a:off x="8942832" y="2194560"/>
            <a:ext cx="2697480" cy="1170432"/>
          </a:xfrm>
          <a:prstGeom prst="rect">
            <a:avLst/>
          </a:prstGeom>
          <a:solidFill>
            <a:srgbClr val="FFFFFF"/>
          </a:solidFill>
          <a:ln w="12700">
            <a:solidFill>
              <a:srgbClr val="DDE3D2"/>
            </a:solidFill>
            <a:prstDash val="solid"/>
          </a:ln>
        </p:spPr>
      </p:sp>
      <p:sp>
        <p:nvSpPr>
          <p:cNvPr id="21" name="Text 18"/>
          <p:cNvSpPr/>
          <p:nvPr/>
        </p:nvSpPr>
        <p:spPr>
          <a:xfrm>
            <a:off x="9052560" y="2286000"/>
            <a:ext cx="2478024" cy="987552"/>
          </a:xfrm>
          <a:prstGeom prst="rect">
            <a:avLst/>
          </a:prstGeom>
          <a:noFill/>
          <a:ln/>
        </p:spPr>
        <p:txBody>
          <a:bodyPr wrap="square" lIns="0" tIns="0" rIns="0" bIns="0" rtlCol="0" anchor="t"/>
          <a:lstStyle/>
          <a:p>
            <a:pPr algn="l" indent="0" marL="0">
              <a:lnSpc>
                <a:spcPct val="110000"/>
              </a:lnSpc>
              <a:buNone/>
            </a:pPr>
            <a:r>
              <a:rPr lang="en-US" sz="1300" b="1" dirty="0">
                <a:solidFill>
                  <a:srgbClr val="2C5F2D"/>
                </a:solidFill>
                <a:latin typeface="Calibri" pitchFamily="34" charset="0"/>
                <a:ea typeface="Calibri" pitchFamily="34" charset="-122"/>
                <a:cs typeface="Calibri" pitchFamily="34" charset="-120"/>
              </a:rPr>
              <a:t>HIGH
</a:t>
            </a:r>
            <a:pPr algn="l" indent="0" marL="0">
              <a:lnSpc>
                <a:spcPct val="110000"/>
              </a:lnSpc>
              <a:buNone/>
            </a:pPr>
            <a:r>
              <a:rPr lang="en-US" sz="1050" dirty="0">
                <a:solidFill>
                  <a:srgbClr val="2E2E2E"/>
                </a:solidFill>
                <a:latin typeface="Calibri" pitchFamily="34" charset="0"/>
                <a:ea typeface="Calibri" pitchFamily="34" charset="-122"/>
                <a:cs typeface="Calibri" pitchFamily="34" charset="-120"/>
              </a:rPr>
              <a:t>Feeds people facing hunger right away.</a:t>
            </a:r>
            <a:endParaRPr lang="en-US" sz="1300" dirty="0"/>
          </a:p>
        </p:txBody>
      </p:sp>
      <p:sp>
        <p:nvSpPr>
          <p:cNvPr id="22" name="Shape 19"/>
          <p:cNvSpPr/>
          <p:nvPr/>
        </p:nvSpPr>
        <p:spPr>
          <a:xfrm>
            <a:off x="548640" y="3364992"/>
            <a:ext cx="3017520" cy="1170432"/>
          </a:xfrm>
          <a:prstGeom prst="rect">
            <a:avLst/>
          </a:prstGeom>
          <a:solidFill>
            <a:srgbClr val="F3F6EC"/>
          </a:solidFill>
          <a:ln w="12700">
            <a:solidFill>
              <a:srgbClr val="DDE3D2"/>
            </a:solidFill>
            <a:prstDash val="solid"/>
          </a:ln>
        </p:spPr>
      </p:sp>
      <p:sp>
        <p:nvSpPr>
          <p:cNvPr id="23" name="Text 20"/>
          <p:cNvSpPr/>
          <p:nvPr/>
        </p:nvSpPr>
        <p:spPr>
          <a:xfrm>
            <a:off x="658368" y="3364992"/>
            <a:ext cx="2798064" cy="1170432"/>
          </a:xfrm>
          <a:prstGeom prst="rect">
            <a:avLst/>
          </a:prstGeom>
          <a:noFill/>
          <a:ln/>
        </p:spPr>
        <p:txBody>
          <a:bodyPr wrap="square" lIns="0" tIns="0" rIns="0" bIns="0" rtlCol="0" anchor="ctr"/>
          <a:lstStyle/>
          <a:p>
            <a:pPr algn="l" indent="0" marL="0">
              <a:lnSpc>
                <a:spcPct val="110000"/>
              </a:lnSpc>
              <a:buNone/>
            </a:pPr>
            <a:r>
              <a:rPr lang="en-US" sz="1250" b="1" dirty="0">
                <a:solidFill>
                  <a:srgbClr val="1F3D1F"/>
                </a:solidFill>
                <a:latin typeface="Georgia" pitchFamily="34" charset="0"/>
                <a:ea typeface="Georgia" pitchFamily="34" charset="-122"/>
                <a:cs typeface="Georgia" pitchFamily="34" charset="-120"/>
              </a:rPr>
              <a:t>Curbside &amp; community composting</a:t>
            </a:r>
            <a:endParaRPr lang="en-US" sz="1250" dirty="0"/>
          </a:p>
        </p:txBody>
      </p:sp>
      <p:sp>
        <p:nvSpPr>
          <p:cNvPr id="24" name="Shape 21"/>
          <p:cNvSpPr/>
          <p:nvPr/>
        </p:nvSpPr>
        <p:spPr>
          <a:xfrm>
            <a:off x="3566160" y="3364992"/>
            <a:ext cx="2688336" cy="1170432"/>
          </a:xfrm>
          <a:prstGeom prst="rect">
            <a:avLst/>
          </a:prstGeom>
          <a:solidFill>
            <a:srgbClr val="FFFFFF"/>
          </a:solidFill>
          <a:ln w="12700">
            <a:solidFill>
              <a:srgbClr val="DDE3D2"/>
            </a:solidFill>
            <a:prstDash val="solid"/>
          </a:ln>
        </p:spPr>
      </p:sp>
      <p:sp>
        <p:nvSpPr>
          <p:cNvPr id="25" name="Text 22"/>
          <p:cNvSpPr/>
          <p:nvPr/>
        </p:nvSpPr>
        <p:spPr>
          <a:xfrm>
            <a:off x="3675888" y="3456432"/>
            <a:ext cx="2468880" cy="987552"/>
          </a:xfrm>
          <a:prstGeom prst="rect">
            <a:avLst/>
          </a:prstGeom>
          <a:noFill/>
          <a:ln/>
        </p:spPr>
        <p:txBody>
          <a:bodyPr wrap="square" lIns="0" tIns="0" rIns="0" bIns="0" rtlCol="0" anchor="t"/>
          <a:lstStyle/>
          <a:p>
            <a:pPr algn="l" indent="0" marL="0">
              <a:lnSpc>
                <a:spcPct val="110000"/>
              </a:lnSpc>
              <a:buNone/>
            </a:pPr>
            <a:r>
              <a:rPr lang="en-US" sz="1300" b="1" dirty="0">
                <a:solidFill>
                  <a:srgbClr val="2C5F2D"/>
                </a:solidFill>
                <a:latin typeface="Calibri" pitchFamily="34" charset="0"/>
                <a:ea typeface="Calibri" pitchFamily="34" charset="-122"/>
                <a:cs typeface="Calibri" pitchFamily="34" charset="-120"/>
              </a:rPr>
              <a:t>HIGH
</a:t>
            </a:r>
            <a:pPr algn="l" indent="0" marL="0">
              <a:lnSpc>
                <a:spcPct val="110000"/>
              </a:lnSpc>
              <a:buNone/>
            </a:pPr>
            <a:r>
              <a:rPr lang="en-US" sz="1050" dirty="0">
                <a:solidFill>
                  <a:srgbClr val="2E2E2E"/>
                </a:solidFill>
                <a:latin typeface="Calibri" pitchFamily="34" charset="0"/>
                <a:ea typeface="Calibri" pitchFamily="34" charset="-122"/>
                <a:cs typeface="Calibri" pitchFamily="34" charset="-120"/>
              </a:rPr>
              <a:t>Cuts landfill methane and rebuilds healthy soil.</a:t>
            </a:r>
            <a:endParaRPr lang="en-US" sz="1300" dirty="0"/>
          </a:p>
        </p:txBody>
      </p:sp>
      <p:sp>
        <p:nvSpPr>
          <p:cNvPr id="26" name="Shape 23"/>
          <p:cNvSpPr/>
          <p:nvPr/>
        </p:nvSpPr>
        <p:spPr>
          <a:xfrm>
            <a:off x="6254496" y="3364992"/>
            <a:ext cx="2688336" cy="1170432"/>
          </a:xfrm>
          <a:prstGeom prst="rect">
            <a:avLst/>
          </a:prstGeom>
          <a:solidFill>
            <a:srgbClr val="FFFFFF"/>
          </a:solidFill>
          <a:ln w="12700">
            <a:solidFill>
              <a:srgbClr val="DDE3D2"/>
            </a:solidFill>
            <a:prstDash val="solid"/>
          </a:ln>
        </p:spPr>
      </p:sp>
      <p:sp>
        <p:nvSpPr>
          <p:cNvPr id="27" name="Text 24"/>
          <p:cNvSpPr/>
          <p:nvPr/>
        </p:nvSpPr>
        <p:spPr>
          <a:xfrm>
            <a:off x="6364224" y="3456432"/>
            <a:ext cx="2468880" cy="987552"/>
          </a:xfrm>
          <a:prstGeom prst="rect">
            <a:avLst/>
          </a:prstGeom>
          <a:noFill/>
          <a:ln/>
        </p:spPr>
        <p:txBody>
          <a:bodyPr wrap="square" lIns="0" tIns="0" rIns="0" bIns="0" rtlCol="0" anchor="t"/>
          <a:lstStyle/>
          <a:p>
            <a:pPr algn="l" indent="0" marL="0">
              <a:lnSpc>
                <a:spcPct val="110000"/>
              </a:lnSpc>
              <a:buNone/>
            </a:pPr>
            <a:r>
              <a:rPr lang="en-US" sz="1300" b="1" dirty="0">
                <a:solidFill>
                  <a:srgbClr val="D8892B"/>
                </a:solidFill>
                <a:latin typeface="Calibri" pitchFamily="34" charset="0"/>
                <a:ea typeface="Calibri" pitchFamily="34" charset="-122"/>
                <a:cs typeface="Calibri" pitchFamily="34" charset="-120"/>
              </a:rPr>
              <a:t>MED
</a:t>
            </a:r>
            <a:pPr algn="l" indent="0" marL="0">
              <a:lnSpc>
                <a:spcPct val="110000"/>
              </a:lnSpc>
              <a:buNone/>
            </a:pPr>
            <a:r>
              <a:rPr lang="en-US" sz="1050" dirty="0">
                <a:solidFill>
                  <a:srgbClr val="2E2E2E"/>
                </a:solidFill>
                <a:latin typeface="Calibri" pitchFamily="34" charset="0"/>
                <a:ea typeface="Calibri" pitchFamily="34" charset="-122"/>
                <a:cs typeface="Calibri" pitchFamily="34" charset="-120"/>
              </a:rPr>
              <a:t>Startup and pickup costs, but creates jobs and compost.</a:t>
            </a:r>
            <a:endParaRPr lang="en-US" sz="1300" dirty="0"/>
          </a:p>
        </p:txBody>
      </p:sp>
      <p:sp>
        <p:nvSpPr>
          <p:cNvPr id="28" name="Shape 25"/>
          <p:cNvSpPr/>
          <p:nvPr/>
        </p:nvSpPr>
        <p:spPr>
          <a:xfrm>
            <a:off x="8942832" y="3364992"/>
            <a:ext cx="2697480" cy="1170432"/>
          </a:xfrm>
          <a:prstGeom prst="rect">
            <a:avLst/>
          </a:prstGeom>
          <a:solidFill>
            <a:srgbClr val="FFFFFF"/>
          </a:solidFill>
          <a:ln w="12700">
            <a:solidFill>
              <a:srgbClr val="DDE3D2"/>
            </a:solidFill>
            <a:prstDash val="solid"/>
          </a:ln>
        </p:spPr>
      </p:sp>
      <p:sp>
        <p:nvSpPr>
          <p:cNvPr id="29" name="Text 26"/>
          <p:cNvSpPr/>
          <p:nvPr/>
        </p:nvSpPr>
        <p:spPr>
          <a:xfrm>
            <a:off x="9052560" y="3456432"/>
            <a:ext cx="2478024" cy="987552"/>
          </a:xfrm>
          <a:prstGeom prst="rect">
            <a:avLst/>
          </a:prstGeom>
          <a:noFill/>
          <a:ln/>
        </p:spPr>
        <p:txBody>
          <a:bodyPr wrap="square" lIns="0" tIns="0" rIns="0" bIns="0" rtlCol="0" anchor="t"/>
          <a:lstStyle/>
          <a:p>
            <a:pPr algn="l" indent="0" marL="0">
              <a:lnSpc>
                <a:spcPct val="110000"/>
              </a:lnSpc>
              <a:buNone/>
            </a:pPr>
            <a:r>
              <a:rPr lang="en-US" sz="1300" b="1" dirty="0">
                <a:solidFill>
                  <a:srgbClr val="D8892B"/>
                </a:solidFill>
                <a:latin typeface="Calibri" pitchFamily="34" charset="0"/>
                <a:ea typeface="Calibri" pitchFamily="34" charset="-122"/>
                <a:cs typeface="Calibri" pitchFamily="34" charset="-120"/>
              </a:rPr>
              <a:t>MED
</a:t>
            </a:r>
            <a:pPr algn="l" indent="0" marL="0">
              <a:lnSpc>
                <a:spcPct val="110000"/>
              </a:lnSpc>
              <a:buNone/>
            </a:pPr>
            <a:r>
              <a:rPr lang="en-US" sz="1050" dirty="0">
                <a:solidFill>
                  <a:srgbClr val="2E2E2E"/>
                </a:solidFill>
                <a:latin typeface="Calibri" pitchFamily="34" charset="0"/>
                <a:ea typeface="Calibri" pitchFamily="34" charset="-122"/>
                <a:cs typeface="Calibri" pitchFamily="34" charset="-120"/>
              </a:rPr>
              <a:t>Greens neighborhoods, but does not feed people directly.</a:t>
            </a:r>
            <a:endParaRPr lang="en-US" sz="1300" dirty="0"/>
          </a:p>
        </p:txBody>
      </p:sp>
      <p:sp>
        <p:nvSpPr>
          <p:cNvPr id="30" name="Shape 27"/>
          <p:cNvSpPr/>
          <p:nvPr/>
        </p:nvSpPr>
        <p:spPr>
          <a:xfrm>
            <a:off x="548640" y="4535424"/>
            <a:ext cx="3017520" cy="1170432"/>
          </a:xfrm>
          <a:prstGeom prst="rect">
            <a:avLst/>
          </a:prstGeom>
          <a:solidFill>
            <a:srgbClr val="F3F6EC"/>
          </a:solidFill>
          <a:ln w="12700">
            <a:solidFill>
              <a:srgbClr val="DDE3D2"/>
            </a:solidFill>
            <a:prstDash val="solid"/>
          </a:ln>
        </p:spPr>
      </p:sp>
      <p:sp>
        <p:nvSpPr>
          <p:cNvPr id="31" name="Text 28"/>
          <p:cNvSpPr/>
          <p:nvPr/>
        </p:nvSpPr>
        <p:spPr>
          <a:xfrm>
            <a:off x="658368" y="4535424"/>
            <a:ext cx="2798064" cy="1170432"/>
          </a:xfrm>
          <a:prstGeom prst="rect">
            <a:avLst/>
          </a:prstGeom>
          <a:noFill/>
          <a:ln/>
        </p:spPr>
        <p:txBody>
          <a:bodyPr wrap="square" lIns="0" tIns="0" rIns="0" bIns="0" rtlCol="0" anchor="ctr"/>
          <a:lstStyle/>
          <a:p>
            <a:pPr algn="l" indent="0" marL="0">
              <a:lnSpc>
                <a:spcPct val="110000"/>
              </a:lnSpc>
              <a:buNone/>
            </a:pPr>
            <a:r>
              <a:rPr lang="en-US" sz="1250" b="1" dirty="0">
                <a:solidFill>
                  <a:srgbClr val="1F3D1F"/>
                </a:solidFill>
                <a:latin typeface="Georgia" pitchFamily="34" charset="0"/>
                <a:ea typeface="Georgia" pitchFamily="34" charset="-122"/>
                <a:cs typeface="Georgia" pitchFamily="34" charset="-120"/>
              </a:rPr>
              <a:t>Smart shopping &amp; clear date labels</a:t>
            </a:r>
            <a:endParaRPr lang="en-US" sz="1250" dirty="0"/>
          </a:p>
        </p:txBody>
      </p:sp>
      <p:sp>
        <p:nvSpPr>
          <p:cNvPr id="32" name="Shape 29"/>
          <p:cNvSpPr/>
          <p:nvPr/>
        </p:nvSpPr>
        <p:spPr>
          <a:xfrm>
            <a:off x="3566160" y="4535424"/>
            <a:ext cx="2688336" cy="1170432"/>
          </a:xfrm>
          <a:prstGeom prst="rect">
            <a:avLst/>
          </a:prstGeom>
          <a:solidFill>
            <a:srgbClr val="FFFFFF"/>
          </a:solidFill>
          <a:ln w="12700">
            <a:solidFill>
              <a:srgbClr val="DDE3D2"/>
            </a:solidFill>
            <a:prstDash val="solid"/>
          </a:ln>
        </p:spPr>
      </p:sp>
      <p:sp>
        <p:nvSpPr>
          <p:cNvPr id="33" name="Text 30"/>
          <p:cNvSpPr/>
          <p:nvPr/>
        </p:nvSpPr>
        <p:spPr>
          <a:xfrm>
            <a:off x="3675888" y="4626864"/>
            <a:ext cx="2468880" cy="987552"/>
          </a:xfrm>
          <a:prstGeom prst="rect">
            <a:avLst/>
          </a:prstGeom>
          <a:noFill/>
          <a:ln/>
        </p:spPr>
        <p:txBody>
          <a:bodyPr wrap="square" lIns="0" tIns="0" rIns="0" bIns="0" rtlCol="0" anchor="t"/>
          <a:lstStyle/>
          <a:p>
            <a:pPr algn="l" indent="0" marL="0">
              <a:lnSpc>
                <a:spcPct val="110000"/>
              </a:lnSpc>
              <a:buNone/>
            </a:pPr>
            <a:r>
              <a:rPr lang="en-US" sz="1300" b="1" dirty="0">
                <a:solidFill>
                  <a:srgbClr val="2C5F2D"/>
                </a:solidFill>
                <a:latin typeface="Calibri" pitchFamily="34" charset="0"/>
                <a:ea typeface="Calibri" pitchFamily="34" charset="-122"/>
                <a:cs typeface="Calibri" pitchFamily="34" charset="-120"/>
              </a:rPr>
              <a:t>HIGH
</a:t>
            </a:r>
            <a:pPr algn="l" indent="0" marL="0">
              <a:lnSpc>
                <a:spcPct val="110000"/>
              </a:lnSpc>
              <a:buNone/>
            </a:pPr>
            <a:r>
              <a:rPr lang="en-US" sz="1050" dirty="0">
                <a:solidFill>
                  <a:srgbClr val="2E2E2E"/>
                </a:solidFill>
                <a:latin typeface="Calibri" pitchFamily="34" charset="0"/>
                <a:ea typeface="Calibri" pitchFamily="34" charset="-122"/>
                <a:cs typeface="Calibri" pitchFamily="34" charset="-120"/>
              </a:rPr>
              <a:t>Stops waste at the source, where most of it starts.</a:t>
            </a:r>
            <a:endParaRPr lang="en-US" sz="1300" dirty="0"/>
          </a:p>
        </p:txBody>
      </p:sp>
      <p:sp>
        <p:nvSpPr>
          <p:cNvPr id="34" name="Shape 31"/>
          <p:cNvSpPr/>
          <p:nvPr/>
        </p:nvSpPr>
        <p:spPr>
          <a:xfrm>
            <a:off x="6254496" y="4535424"/>
            <a:ext cx="2688336" cy="1170432"/>
          </a:xfrm>
          <a:prstGeom prst="rect">
            <a:avLst/>
          </a:prstGeom>
          <a:solidFill>
            <a:srgbClr val="FFFFFF"/>
          </a:solidFill>
          <a:ln w="12700">
            <a:solidFill>
              <a:srgbClr val="DDE3D2"/>
            </a:solidFill>
            <a:prstDash val="solid"/>
          </a:ln>
        </p:spPr>
      </p:sp>
      <p:sp>
        <p:nvSpPr>
          <p:cNvPr id="35" name="Text 32"/>
          <p:cNvSpPr/>
          <p:nvPr/>
        </p:nvSpPr>
        <p:spPr>
          <a:xfrm>
            <a:off x="6364224" y="4626864"/>
            <a:ext cx="2468880" cy="987552"/>
          </a:xfrm>
          <a:prstGeom prst="rect">
            <a:avLst/>
          </a:prstGeom>
          <a:noFill/>
          <a:ln/>
        </p:spPr>
        <p:txBody>
          <a:bodyPr wrap="square" lIns="0" tIns="0" rIns="0" bIns="0" rtlCol="0" anchor="t"/>
          <a:lstStyle/>
          <a:p>
            <a:pPr algn="l" indent="0" marL="0">
              <a:lnSpc>
                <a:spcPct val="110000"/>
              </a:lnSpc>
              <a:buNone/>
            </a:pPr>
            <a:r>
              <a:rPr lang="en-US" sz="1300" b="1" dirty="0">
                <a:solidFill>
                  <a:srgbClr val="2C5F2D"/>
                </a:solidFill>
                <a:latin typeface="Calibri" pitchFamily="34" charset="0"/>
                <a:ea typeface="Calibri" pitchFamily="34" charset="-122"/>
                <a:cs typeface="Calibri" pitchFamily="34" charset="-120"/>
              </a:rPr>
              <a:t>HIGH
</a:t>
            </a:r>
            <a:pPr algn="l" indent="0" marL="0">
              <a:lnSpc>
                <a:spcPct val="110000"/>
              </a:lnSpc>
              <a:buNone/>
            </a:pPr>
            <a:r>
              <a:rPr lang="en-US" sz="1050" dirty="0">
                <a:solidFill>
                  <a:srgbClr val="2E2E2E"/>
                </a:solidFill>
                <a:latin typeface="Calibri" pitchFamily="34" charset="0"/>
                <a:ea typeface="Calibri" pitchFamily="34" charset="-122"/>
                <a:cs typeface="Calibri" pitchFamily="34" charset="-120"/>
              </a:rPr>
              <a:t>Costs little and saves families money.</a:t>
            </a:r>
            <a:endParaRPr lang="en-US" sz="1300" dirty="0"/>
          </a:p>
        </p:txBody>
      </p:sp>
      <p:sp>
        <p:nvSpPr>
          <p:cNvPr id="36" name="Shape 33"/>
          <p:cNvSpPr/>
          <p:nvPr/>
        </p:nvSpPr>
        <p:spPr>
          <a:xfrm>
            <a:off x="8942832" y="4535424"/>
            <a:ext cx="2697480" cy="1170432"/>
          </a:xfrm>
          <a:prstGeom prst="rect">
            <a:avLst/>
          </a:prstGeom>
          <a:solidFill>
            <a:srgbClr val="FFFFFF"/>
          </a:solidFill>
          <a:ln w="12700">
            <a:solidFill>
              <a:srgbClr val="DDE3D2"/>
            </a:solidFill>
            <a:prstDash val="solid"/>
          </a:ln>
        </p:spPr>
      </p:sp>
      <p:sp>
        <p:nvSpPr>
          <p:cNvPr id="37" name="Text 34"/>
          <p:cNvSpPr/>
          <p:nvPr/>
        </p:nvSpPr>
        <p:spPr>
          <a:xfrm>
            <a:off x="9052560" y="4626864"/>
            <a:ext cx="2478024" cy="987552"/>
          </a:xfrm>
          <a:prstGeom prst="rect">
            <a:avLst/>
          </a:prstGeom>
          <a:noFill/>
          <a:ln/>
        </p:spPr>
        <p:txBody>
          <a:bodyPr wrap="square" lIns="0" tIns="0" rIns="0" bIns="0" rtlCol="0" anchor="t"/>
          <a:lstStyle/>
          <a:p>
            <a:pPr algn="l" indent="0" marL="0">
              <a:lnSpc>
                <a:spcPct val="110000"/>
              </a:lnSpc>
              <a:buNone/>
            </a:pPr>
            <a:r>
              <a:rPr lang="en-US" sz="1300" b="1" dirty="0">
                <a:solidFill>
                  <a:srgbClr val="D8892B"/>
                </a:solidFill>
                <a:latin typeface="Calibri" pitchFamily="34" charset="0"/>
                <a:ea typeface="Calibri" pitchFamily="34" charset="-122"/>
                <a:cs typeface="Calibri" pitchFamily="34" charset="-120"/>
              </a:rPr>
              <a:t>MED
</a:t>
            </a:r>
            <a:pPr algn="l" indent="0" marL="0">
              <a:lnSpc>
                <a:spcPct val="110000"/>
              </a:lnSpc>
              <a:buNone/>
            </a:pPr>
            <a:r>
              <a:rPr lang="en-US" sz="1050" dirty="0">
                <a:solidFill>
                  <a:srgbClr val="2E2E2E"/>
                </a:solidFill>
                <a:latin typeface="Calibri" pitchFamily="34" charset="0"/>
                <a:ea typeface="Calibri" pitchFamily="34" charset="-122"/>
                <a:cs typeface="Calibri" pitchFamily="34" charset="-120"/>
              </a:rPr>
              <a:t>Helps households save, but reaches people unevenly.</a:t>
            </a:r>
            <a:endParaRPr lang="en-US" sz="1300" dirty="0"/>
          </a:p>
        </p:txBody>
      </p:sp>
      <p:sp>
        <p:nvSpPr>
          <p:cNvPr id="38" name="Text 35"/>
          <p:cNvSpPr/>
          <p:nvPr/>
        </p:nvSpPr>
        <p:spPr>
          <a:xfrm>
            <a:off x="548640" y="5815584"/>
            <a:ext cx="11094415" cy="365760"/>
          </a:xfrm>
          <a:prstGeom prst="rect">
            <a:avLst/>
          </a:prstGeom>
          <a:noFill/>
          <a:ln/>
        </p:spPr>
        <p:txBody>
          <a:bodyPr wrap="square" lIns="0" tIns="0" rIns="0" bIns="0" rtlCol="0" anchor="t"/>
          <a:lstStyle/>
          <a:p>
            <a:pPr algn="l" indent="0" marL="0">
              <a:lnSpc>
                <a:spcPct val="112000"/>
              </a:lnSpc>
              <a:buNone/>
            </a:pPr>
            <a:r>
              <a:rPr lang="en-US" sz="1200" b="1" dirty="0">
                <a:solidFill>
                  <a:srgbClr val="2C5F2D"/>
                </a:solidFill>
                <a:latin typeface="Calibri" pitchFamily="34" charset="0"/>
                <a:ea typeface="Calibri" pitchFamily="34" charset="-122"/>
                <a:cs typeface="Calibri" pitchFamily="34" charset="-120"/>
              </a:rPr>
              <a:t>HIGH</a:t>
            </a:r>
            <a:pPr algn="l" indent="0" marL="0">
              <a:lnSpc>
                <a:spcPct val="112000"/>
              </a:lnSpc>
              <a:buNone/>
            </a:pPr>
            <a:r>
              <a:rPr lang="en-US" sz="1200" dirty="0">
                <a:solidFill>
                  <a:srgbClr val="6E7566"/>
                </a:solidFill>
                <a:latin typeface="Calibri" pitchFamily="34" charset="0"/>
                <a:ea typeface="Calibri" pitchFamily="34" charset="-122"/>
                <a:cs typeface="Calibri" pitchFamily="34" charset="-120"/>
              </a:rPr>
              <a:t> = strong benefit      </a:t>
            </a:r>
            <a:pPr algn="l" indent="0" marL="0">
              <a:lnSpc>
                <a:spcPct val="112000"/>
              </a:lnSpc>
              <a:buNone/>
            </a:pPr>
            <a:r>
              <a:rPr lang="en-US" sz="1200" b="1" dirty="0">
                <a:solidFill>
                  <a:srgbClr val="D8892B"/>
                </a:solidFill>
                <a:latin typeface="Calibri" pitchFamily="34" charset="0"/>
                <a:ea typeface="Calibri" pitchFamily="34" charset="-122"/>
                <a:cs typeface="Calibri" pitchFamily="34" charset="-120"/>
              </a:rPr>
              <a:t>MED</a:t>
            </a:r>
            <a:pPr algn="l" indent="0" marL="0">
              <a:lnSpc>
                <a:spcPct val="112000"/>
              </a:lnSpc>
              <a:buNone/>
            </a:pPr>
            <a:r>
              <a:rPr lang="en-US" sz="1200" dirty="0">
                <a:solidFill>
                  <a:srgbClr val="6E7566"/>
                </a:solidFill>
                <a:latin typeface="Calibri" pitchFamily="34" charset="0"/>
                <a:ea typeface="Calibri" pitchFamily="34" charset="-122"/>
                <a:cs typeface="Calibri" pitchFamily="34" charset="-120"/>
              </a:rPr>
              <a:t> = some trade-offs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6908"/>
            <a:ext cx="640080" cy="640080"/>
          </a:xfrm>
          <a:prstGeom prst="ellipse">
            <a:avLst/>
          </a:prstGeom>
          <a:solidFill>
            <a:srgbClr val="2C5F2D"/>
          </a:solidFill>
          <a:ln/>
        </p:spPr>
      </p:sp>
      <p:pic>
        <p:nvPicPr>
          <p:cNvPr id="3" name="Image 0" descr="preencoded.png">    </p:cNvPr>
          <p:cNvPicPr>
            <a:picLocks noChangeAspect="1"/>
          </p:cNvPicPr>
          <p:nvPr/>
        </p:nvPicPr>
        <p:blipFill>
          <a:blip r:embed="rId1"/>
          <a:stretch>
            <a:fillRect/>
          </a:stretch>
        </p:blipFill>
        <p:spPr>
          <a:xfrm>
            <a:off x="722376" y="580644"/>
            <a:ext cx="292608" cy="292608"/>
          </a:xfrm>
          <a:prstGeom prst="rect">
            <a:avLst/>
          </a:prstGeom>
        </p:spPr>
      </p:pic>
      <p:sp>
        <p:nvSpPr>
          <p:cNvPr id="4" name="Text 1"/>
          <p:cNvSpPr/>
          <p:nvPr/>
        </p:nvSpPr>
        <p:spPr>
          <a:xfrm>
            <a:off x="1234440" y="384048"/>
            <a:ext cx="10454335" cy="685800"/>
          </a:xfrm>
          <a:prstGeom prst="rect">
            <a:avLst/>
          </a:prstGeom>
          <a:noFill/>
          <a:ln/>
        </p:spPr>
        <p:txBody>
          <a:bodyPr wrap="square" lIns="0" tIns="0" rIns="0" bIns="0" rtlCol="0" anchor="ctr"/>
          <a:lstStyle/>
          <a:p>
            <a:pPr algn="l" indent="0" marL="0">
              <a:lnSpc>
                <a:spcPct val="112000"/>
              </a:lnSpc>
              <a:buNone/>
            </a:pPr>
            <a:r>
              <a:rPr lang="en-US" sz="2800" b="1" dirty="0">
                <a:solidFill>
                  <a:srgbClr val="1F3D1F"/>
                </a:solidFill>
                <a:latin typeface="Georgia" pitchFamily="34" charset="0"/>
                <a:ea typeface="Georgia" pitchFamily="34" charset="-122"/>
                <a:cs typeface="Georgia" pitchFamily="34" charset="-120"/>
              </a:rPr>
              <a:t>The Full Picture</a:t>
            </a:r>
            <a:endParaRPr lang="en-US" sz="2800" dirty="0"/>
          </a:p>
        </p:txBody>
      </p:sp>
      <p:sp>
        <p:nvSpPr>
          <p:cNvPr id="5" name="Shape 2"/>
          <p:cNvSpPr/>
          <p:nvPr/>
        </p:nvSpPr>
        <p:spPr>
          <a:xfrm>
            <a:off x="8461074" y="996696"/>
            <a:ext cx="3236845" cy="5779008"/>
          </a:xfrm>
          <a:prstGeom prst="roundRect">
            <a:avLst>
              <a:gd name="adj" fmla="val 1695"/>
            </a:avLst>
          </a:prstGeom>
          <a:solidFill>
            <a:srgbClr val="DDE3D2"/>
          </a:solidFill>
          <a:ln/>
        </p:spPr>
      </p:sp>
      <p:pic>
        <p:nvPicPr>
          <p:cNvPr id="6" name="Image 1" descr="preencoded.png">    </p:cNvPr>
          <p:cNvPicPr>
            <a:picLocks noChangeAspect="1"/>
          </p:cNvPicPr>
          <p:nvPr/>
        </p:nvPicPr>
        <p:blipFill>
          <a:blip r:embed="rId2"/>
          <a:srcRect l="0" r="0" t="0" b="0"/>
          <a:stretch/>
        </p:blipFill>
        <p:spPr>
          <a:xfrm>
            <a:off x="8515938" y="1051560"/>
            <a:ext cx="3127117" cy="5669280"/>
          </a:xfrm>
          <a:prstGeom prst="rect">
            <a:avLst/>
          </a:prstGeom>
        </p:spPr>
      </p:pic>
      <p:sp>
        <p:nvSpPr>
          <p:cNvPr id="7" name="Text 3"/>
          <p:cNvSpPr/>
          <p:nvPr/>
        </p:nvSpPr>
        <p:spPr>
          <a:xfrm>
            <a:off x="548640" y="1417320"/>
            <a:ext cx="7510098" cy="548640"/>
          </a:xfrm>
          <a:prstGeom prst="rect">
            <a:avLst/>
          </a:prstGeom>
          <a:noFill/>
          <a:ln/>
        </p:spPr>
        <p:txBody>
          <a:bodyPr wrap="square" lIns="0" tIns="0" rIns="0" bIns="0" rtlCol="0" anchor="t"/>
          <a:lstStyle/>
          <a:p>
            <a:pPr algn="l" indent="0" marL="0">
              <a:lnSpc>
                <a:spcPct val="112000"/>
              </a:lnSpc>
              <a:buNone/>
            </a:pPr>
            <a:r>
              <a:rPr lang="en-US" sz="1600" b="1" dirty="0">
                <a:solidFill>
                  <a:srgbClr val="1F3D1F"/>
                </a:solidFill>
                <a:latin typeface="Georgia" pitchFamily="34" charset="0"/>
                <a:ea typeface="Georgia" pitchFamily="34" charset="-122"/>
                <a:cs typeface="Georgia" pitchFamily="34" charset="-120"/>
              </a:rPr>
              <a:t>Everything on one page:</a:t>
            </a:r>
            <a:endParaRPr lang="en-US" sz="1600" dirty="0"/>
          </a:p>
        </p:txBody>
      </p:sp>
      <p:sp>
        <p:nvSpPr>
          <p:cNvPr id="8" name="Text 4"/>
          <p:cNvSpPr/>
          <p:nvPr/>
        </p:nvSpPr>
        <p:spPr>
          <a:xfrm>
            <a:off x="548640" y="2148840"/>
            <a:ext cx="7510098" cy="2377440"/>
          </a:xfrm>
          <a:prstGeom prst="rect">
            <a:avLst/>
          </a:prstGeom>
          <a:noFill/>
          <a:ln/>
        </p:spPr>
        <p:txBody>
          <a:bodyPr wrap="square" lIns="0" tIns="0" rIns="0" bIns="0" rtlCol="0" anchor="t"/>
          <a:lstStyle/>
          <a:p>
            <a:pPr algn="l" indent="0" marL="0">
              <a:lnSpc>
                <a:spcPct val="120000"/>
              </a:lnSpc>
              <a:buNone/>
            </a:pPr>
            <a:r>
              <a:rPr lang="en-US" sz="1400" b="1" dirty="0">
                <a:solidFill>
                  <a:srgbClr val="97BC62"/>
                </a:solidFill>
                <a:latin typeface="Calibri" pitchFamily="34" charset="0"/>
                <a:ea typeface="Calibri" pitchFamily="34" charset="-122"/>
                <a:cs typeface="Calibri" pitchFamily="34" charset="-120"/>
              </a:rPr>
              <a:t>•  </a:t>
            </a:r>
            <a:pPr algn="l" indent="0" marL="0">
              <a:lnSpc>
                <a:spcPct val="120000"/>
              </a:lnSpc>
              <a:buNone/>
            </a:pPr>
            <a:r>
              <a:rPr lang="en-US" sz="1400" dirty="0">
                <a:solidFill>
                  <a:srgbClr val="2E2E2E"/>
                </a:solidFill>
                <a:latin typeface="Calibri" pitchFamily="34" charset="0"/>
                <a:ea typeface="Calibri" pitchFamily="34" charset="-122"/>
                <a:cs typeface="Calibri" pitchFamily="34" charset="-120"/>
              </a:rPr>
              <a:t>The problem and its link to the Three E's.
</a:t>
            </a:r>
            <a:pPr algn="l" indent="0" marL="0">
              <a:lnSpc>
                <a:spcPct val="120000"/>
              </a:lnSpc>
              <a:buNone/>
            </a:pPr>
            <a:r>
              <a:rPr lang="en-US" sz="1400" b="1" dirty="0">
                <a:solidFill>
                  <a:srgbClr val="97BC62"/>
                </a:solidFill>
                <a:latin typeface="Calibri" pitchFamily="34" charset="0"/>
                <a:ea typeface="Calibri" pitchFamily="34" charset="-122"/>
                <a:cs typeface="Calibri" pitchFamily="34" charset="-120"/>
              </a:rPr>
              <a:t>•  </a:t>
            </a:r>
            <a:pPr algn="l" indent="0" marL="0">
              <a:lnSpc>
                <a:spcPct val="120000"/>
              </a:lnSpc>
              <a:buNone/>
            </a:pPr>
            <a:r>
              <a:rPr lang="en-US" sz="1400" dirty="0">
                <a:solidFill>
                  <a:srgbClr val="2E2E2E"/>
                </a:solidFill>
                <a:latin typeface="Calibri" pitchFamily="34" charset="0"/>
                <a:ea typeface="Calibri" pitchFamily="34" charset="-122"/>
                <a:cs typeface="Calibri" pitchFamily="34" charset="-120"/>
              </a:rPr>
              <a:t>Impacts on people, the environment, and wildlife.
</a:t>
            </a:r>
            <a:pPr algn="l" indent="0" marL="0">
              <a:lnSpc>
                <a:spcPct val="120000"/>
              </a:lnSpc>
              <a:buNone/>
            </a:pPr>
            <a:r>
              <a:rPr lang="en-US" sz="1400" b="1" dirty="0">
                <a:solidFill>
                  <a:srgbClr val="97BC62"/>
                </a:solidFill>
                <a:latin typeface="Calibri" pitchFamily="34" charset="0"/>
                <a:ea typeface="Calibri" pitchFamily="34" charset="-122"/>
                <a:cs typeface="Calibri" pitchFamily="34" charset="-120"/>
              </a:rPr>
              <a:t>•  </a:t>
            </a:r>
            <a:pPr algn="l" indent="0" marL="0">
              <a:lnSpc>
                <a:spcPct val="120000"/>
              </a:lnSpc>
              <a:buNone/>
            </a:pPr>
            <a:r>
              <a:rPr lang="en-US" sz="1400" dirty="0">
                <a:solidFill>
                  <a:srgbClr val="2E2E2E"/>
                </a:solidFill>
                <a:latin typeface="Calibri" pitchFamily="34" charset="0"/>
                <a:ea typeface="Calibri" pitchFamily="34" charset="-122"/>
                <a:cs typeface="Calibri" pitchFamily="34" charset="-120"/>
              </a:rPr>
              <a:t>Solutions at the individual, local, and global levels.
</a:t>
            </a:r>
            <a:pPr algn="l" indent="0" marL="0">
              <a:lnSpc>
                <a:spcPct val="120000"/>
              </a:lnSpc>
              <a:buNone/>
            </a:pPr>
            <a:r>
              <a:rPr lang="en-US" sz="1400" b="1" dirty="0">
                <a:solidFill>
                  <a:srgbClr val="97BC62"/>
                </a:solidFill>
                <a:latin typeface="Calibri" pitchFamily="34" charset="0"/>
                <a:ea typeface="Calibri" pitchFamily="34" charset="-122"/>
                <a:cs typeface="Calibri" pitchFamily="34" charset="-120"/>
              </a:rPr>
              <a:t>•  </a:t>
            </a:r>
            <a:pPr algn="l" indent="0" marL="0">
              <a:lnSpc>
                <a:spcPct val="120000"/>
              </a:lnSpc>
              <a:buNone/>
            </a:pPr>
            <a:r>
              <a:rPr lang="en-US" sz="1400" dirty="0">
                <a:solidFill>
                  <a:srgbClr val="2E2E2E"/>
                </a:solidFill>
                <a:latin typeface="Calibri" pitchFamily="34" charset="0"/>
                <a:ea typeface="Calibri" pitchFamily="34" charset="-122"/>
                <a:cs typeface="Calibri" pitchFamily="34" charset="-120"/>
              </a:rPr>
              <a:t>An evaluation of the top three solutions.</a:t>
            </a:r>
            <a:endParaRPr lang="en-US" sz="1400" dirty="0"/>
          </a:p>
        </p:txBody>
      </p:sp>
      <p:sp>
        <p:nvSpPr>
          <p:cNvPr id="9" name="Shape 5"/>
          <p:cNvSpPr/>
          <p:nvPr/>
        </p:nvSpPr>
        <p:spPr>
          <a:xfrm>
            <a:off x="548640" y="4754880"/>
            <a:ext cx="7510098" cy="1097280"/>
          </a:xfrm>
          <a:prstGeom prst="roundRect">
            <a:avLst>
              <a:gd name="adj" fmla="val 7500"/>
            </a:avLst>
          </a:prstGeom>
          <a:solidFill>
            <a:srgbClr val="E6EEDB"/>
          </a:solidFill>
          <a:ln/>
        </p:spPr>
      </p:sp>
      <p:sp>
        <p:nvSpPr>
          <p:cNvPr id="10" name="Text 6"/>
          <p:cNvSpPr/>
          <p:nvPr/>
        </p:nvSpPr>
        <p:spPr>
          <a:xfrm>
            <a:off x="777240" y="4754880"/>
            <a:ext cx="7052898" cy="1097280"/>
          </a:xfrm>
          <a:prstGeom prst="rect">
            <a:avLst/>
          </a:prstGeom>
          <a:noFill/>
          <a:ln/>
        </p:spPr>
        <p:txBody>
          <a:bodyPr wrap="square" lIns="0" tIns="0" rIns="0" bIns="0" rtlCol="0" anchor="ctr"/>
          <a:lstStyle/>
          <a:p>
            <a:pPr algn="l" indent="0" marL="0">
              <a:lnSpc>
                <a:spcPct val="118000"/>
              </a:lnSpc>
              <a:buNone/>
            </a:pPr>
            <a:r>
              <a:rPr lang="en-US" sz="1400" b="1" dirty="0">
                <a:solidFill>
                  <a:srgbClr val="2C5F2D"/>
                </a:solidFill>
                <a:latin typeface="Georgia" pitchFamily="34" charset="0"/>
                <a:ea typeface="Georgia" pitchFamily="34" charset="-122"/>
                <a:cs typeface="Georgia" pitchFamily="34" charset="-120"/>
              </a:rPr>
              <a:t>Big takeaway:  </a:t>
            </a:r>
            <a:pPr algn="l" indent="0" marL="0">
              <a:lnSpc>
                <a:spcPct val="118000"/>
              </a:lnSpc>
              <a:buNone/>
            </a:pPr>
            <a:r>
              <a:rPr lang="en-US" sz="1400" dirty="0">
                <a:solidFill>
                  <a:srgbClr val="2E2E2E"/>
                </a:solidFill>
                <a:latin typeface="Calibri" pitchFamily="34" charset="0"/>
                <a:ea typeface="Calibri" pitchFamily="34" charset="-122"/>
                <a:cs typeface="Calibri" pitchFamily="34" charset="-120"/>
              </a:rPr>
              <a:t>food waste is something we all touch every day, which means we all have a part in the fix.</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D1F"/>
        </a:solidFill>
      </p:bgPr>
    </p:bg>
    <p:spTree>
      <p:nvGrpSpPr>
        <p:cNvPr id="1" name=""/>
        <p:cNvGrpSpPr/>
        <p:nvPr/>
      </p:nvGrpSpPr>
      <p:grpSpPr>
        <a:xfrm>
          <a:off x="0" y="0"/>
          <a:ext cx="0" cy="0"/>
          <a:chOff x="0" y="0"/>
          <a:chExt cx="0" cy="0"/>
        </a:xfrm>
      </p:grpSpPr>
      <p:sp>
        <p:nvSpPr>
          <p:cNvPr id="2" name="Shape 0"/>
          <p:cNvSpPr/>
          <p:nvPr/>
        </p:nvSpPr>
        <p:spPr>
          <a:xfrm>
            <a:off x="-1188720" y="4937760"/>
            <a:ext cx="3108960" cy="3108960"/>
          </a:xfrm>
          <a:prstGeom prst="ellipse">
            <a:avLst/>
          </a:prstGeom>
          <a:solidFill>
            <a:srgbClr val="2C5F2D"/>
          </a:solidFill>
          <a:ln/>
        </p:spPr>
      </p:sp>
      <p:sp>
        <p:nvSpPr>
          <p:cNvPr id="3" name="Shape 1"/>
          <p:cNvSpPr/>
          <p:nvPr/>
        </p:nvSpPr>
        <p:spPr>
          <a:xfrm>
            <a:off x="10881360" y="-1097280"/>
            <a:ext cx="2377440" cy="2377440"/>
          </a:xfrm>
          <a:prstGeom prst="ellipse">
            <a:avLst/>
          </a:prstGeom>
          <a:solidFill>
            <a:srgbClr val="2C5F2D"/>
          </a:solidFill>
          <a:ln/>
        </p:spPr>
      </p:sp>
      <p:sp>
        <p:nvSpPr>
          <p:cNvPr id="4" name="Text 2"/>
          <p:cNvSpPr/>
          <p:nvPr/>
        </p:nvSpPr>
        <p:spPr>
          <a:xfrm>
            <a:off x="548640" y="640080"/>
            <a:ext cx="11094415" cy="731520"/>
          </a:xfrm>
          <a:prstGeom prst="rect">
            <a:avLst/>
          </a:prstGeom>
          <a:noFill/>
          <a:ln/>
        </p:spPr>
        <p:txBody>
          <a:bodyPr wrap="square" lIns="0" tIns="0" rIns="0" bIns="0" rtlCol="0" anchor="ctr"/>
          <a:lstStyle/>
          <a:p>
            <a:pPr algn="l" indent="0" marL="0">
              <a:lnSpc>
                <a:spcPct val="112000"/>
              </a:lnSpc>
              <a:buNone/>
            </a:pPr>
            <a:r>
              <a:rPr lang="en-US" sz="3200" b="1" dirty="0">
                <a:solidFill>
                  <a:srgbClr val="FFFFFF"/>
                </a:solidFill>
                <a:latin typeface="Georgia" pitchFamily="34" charset="0"/>
                <a:ea typeface="Georgia" pitchFamily="34" charset="-122"/>
                <a:cs typeface="Georgia" pitchFamily="34" charset="-120"/>
              </a:rPr>
              <a:t>What We Can Do</a:t>
            </a:r>
            <a:endParaRPr lang="en-US" sz="3200" dirty="0"/>
          </a:p>
        </p:txBody>
      </p:sp>
      <p:sp>
        <p:nvSpPr>
          <p:cNvPr id="5" name="Text 3"/>
          <p:cNvSpPr/>
          <p:nvPr/>
        </p:nvSpPr>
        <p:spPr>
          <a:xfrm>
            <a:off x="548640" y="1417320"/>
            <a:ext cx="11094415" cy="365760"/>
          </a:xfrm>
          <a:prstGeom prst="rect">
            <a:avLst/>
          </a:prstGeom>
          <a:noFill/>
          <a:ln/>
        </p:spPr>
        <p:txBody>
          <a:bodyPr wrap="square" lIns="0" tIns="0" rIns="0" bIns="0" rtlCol="0" anchor="t"/>
          <a:lstStyle/>
          <a:p>
            <a:pPr algn="l" indent="0" marL="0">
              <a:lnSpc>
                <a:spcPct val="112000"/>
              </a:lnSpc>
              <a:buNone/>
            </a:pPr>
            <a:r>
              <a:rPr lang="en-US" sz="1500" i="1" dirty="0">
                <a:solidFill>
                  <a:srgbClr val="D9E4C6"/>
                </a:solidFill>
                <a:latin typeface="Calibri" pitchFamily="34" charset="0"/>
                <a:ea typeface="Calibri" pitchFamily="34" charset="-122"/>
                <a:cs typeface="Calibri" pitchFamily="34" charset="-120"/>
              </a:rPr>
              <a:t>Simple habits and smart policies that add up fast</a:t>
            </a:r>
            <a:endParaRPr lang="en-US" sz="1500" dirty="0"/>
          </a:p>
        </p:txBody>
      </p:sp>
      <p:sp>
        <p:nvSpPr>
          <p:cNvPr id="6" name="Shape 4"/>
          <p:cNvSpPr/>
          <p:nvPr/>
        </p:nvSpPr>
        <p:spPr>
          <a:xfrm>
            <a:off x="612648" y="2057400"/>
            <a:ext cx="512064" cy="512064"/>
          </a:xfrm>
          <a:prstGeom prst="ellipse">
            <a:avLst/>
          </a:prstGeom>
          <a:solidFill>
            <a:srgbClr val="2C5F2D"/>
          </a:solidFill>
          <a:ln/>
        </p:spPr>
      </p:sp>
      <p:pic>
        <p:nvPicPr>
          <p:cNvPr id="7" name="Image 0" descr="preencoded.png">    </p:cNvPr>
          <p:cNvPicPr>
            <a:picLocks noChangeAspect="1"/>
          </p:cNvPicPr>
          <p:nvPr/>
        </p:nvPicPr>
        <p:blipFill>
          <a:blip r:embed="rId1"/>
          <a:stretch>
            <a:fillRect/>
          </a:stretch>
        </p:blipFill>
        <p:spPr>
          <a:xfrm>
            <a:off x="612648" y="2057400"/>
            <a:ext cx="512064" cy="512064"/>
          </a:xfrm>
          <a:prstGeom prst="rect">
            <a:avLst/>
          </a:prstGeom>
        </p:spPr>
      </p:pic>
      <p:sp>
        <p:nvSpPr>
          <p:cNvPr id="8" name="Text 5"/>
          <p:cNvSpPr/>
          <p:nvPr/>
        </p:nvSpPr>
        <p:spPr>
          <a:xfrm>
            <a:off x="1325880" y="2057400"/>
            <a:ext cx="9997135" cy="548640"/>
          </a:xfrm>
          <a:prstGeom prst="rect">
            <a:avLst/>
          </a:prstGeom>
          <a:noFill/>
          <a:ln/>
        </p:spPr>
        <p:txBody>
          <a:bodyPr wrap="square" lIns="0" tIns="0" rIns="0" bIns="0" rtlCol="0" anchor="ctr"/>
          <a:lstStyle/>
          <a:p>
            <a:pPr algn="l" indent="0" marL="0">
              <a:lnSpc>
                <a:spcPct val="110000"/>
              </a:lnSpc>
              <a:buNone/>
            </a:pPr>
            <a:r>
              <a:rPr lang="en-US" sz="1500" dirty="0">
                <a:solidFill>
                  <a:srgbClr val="FFFFFF"/>
                </a:solidFill>
                <a:latin typeface="Calibri" pitchFamily="34" charset="0"/>
                <a:ea typeface="Calibri" pitchFamily="34" charset="-122"/>
                <a:cs typeface="Calibri" pitchFamily="34" charset="-120"/>
              </a:rPr>
              <a:t>Plan meals and shop with a list, buy only what you will use.</a:t>
            </a:r>
            <a:endParaRPr lang="en-US" sz="1500" dirty="0"/>
          </a:p>
        </p:txBody>
      </p:sp>
      <p:sp>
        <p:nvSpPr>
          <p:cNvPr id="9" name="Shape 6"/>
          <p:cNvSpPr/>
          <p:nvPr/>
        </p:nvSpPr>
        <p:spPr>
          <a:xfrm>
            <a:off x="612648" y="2807208"/>
            <a:ext cx="512064" cy="512064"/>
          </a:xfrm>
          <a:prstGeom prst="ellipse">
            <a:avLst/>
          </a:prstGeom>
          <a:solidFill>
            <a:srgbClr val="2C5F2D"/>
          </a:solidFill>
          <a:ln/>
        </p:spPr>
      </p:sp>
      <p:pic>
        <p:nvPicPr>
          <p:cNvPr id="10" name="Image 1" descr="preencoded.png">    </p:cNvPr>
          <p:cNvPicPr>
            <a:picLocks noChangeAspect="1"/>
          </p:cNvPicPr>
          <p:nvPr/>
        </p:nvPicPr>
        <p:blipFill>
          <a:blip r:embed="rId2"/>
          <a:stretch>
            <a:fillRect/>
          </a:stretch>
        </p:blipFill>
        <p:spPr>
          <a:xfrm>
            <a:off x="612648" y="2807208"/>
            <a:ext cx="512064" cy="512064"/>
          </a:xfrm>
          <a:prstGeom prst="rect">
            <a:avLst/>
          </a:prstGeom>
        </p:spPr>
      </p:pic>
      <p:sp>
        <p:nvSpPr>
          <p:cNvPr id="11" name="Text 7"/>
          <p:cNvSpPr/>
          <p:nvPr/>
        </p:nvSpPr>
        <p:spPr>
          <a:xfrm>
            <a:off x="1325880" y="2807208"/>
            <a:ext cx="9997135" cy="548640"/>
          </a:xfrm>
          <a:prstGeom prst="rect">
            <a:avLst/>
          </a:prstGeom>
          <a:noFill/>
          <a:ln/>
        </p:spPr>
        <p:txBody>
          <a:bodyPr wrap="square" lIns="0" tIns="0" rIns="0" bIns="0" rtlCol="0" anchor="ctr"/>
          <a:lstStyle/>
          <a:p>
            <a:pPr algn="l" indent="0" marL="0">
              <a:lnSpc>
                <a:spcPct val="110000"/>
              </a:lnSpc>
              <a:buNone/>
            </a:pPr>
            <a:r>
              <a:rPr lang="en-US" sz="1500" dirty="0">
                <a:solidFill>
                  <a:srgbClr val="FFFFFF"/>
                </a:solidFill>
                <a:latin typeface="Calibri" pitchFamily="34" charset="0"/>
                <a:ea typeface="Calibri" pitchFamily="34" charset="-122"/>
                <a:cs typeface="Calibri" pitchFamily="34" charset="-120"/>
              </a:rPr>
              <a:t>Store food well and eat leftovers, don't fear “best by” dates.</a:t>
            </a:r>
            <a:endParaRPr lang="en-US" sz="1500" dirty="0"/>
          </a:p>
        </p:txBody>
      </p:sp>
      <p:sp>
        <p:nvSpPr>
          <p:cNvPr id="12" name="Shape 8"/>
          <p:cNvSpPr/>
          <p:nvPr/>
        </p:nvSpPr>
        <p:spPr>
          <a:xfrm>
            <a:off x="612648" y="3557016"/>
            <a:ext cx="512064" cy="512064"/>
          </a:xfrm>
          <a:prstGeom prst="ellipse">
            <a:avLst/>
          </a:prstGeom>
          <a:solidFill>
            <a:srgbClr val="2C5F2D"/>
          </a:solidFill>
          <a:ln/>
        </p:spPr>
      </p:sp>
      <p:pic>
        <p:nvPicPr>
          <p:cNvPr id="13" name="Image 2" descr="preencoded.png">    </p:cNvPr>
          <p:cNvPicPr>
            <a:picLocks noChangeAspect="1"/>
          </p:cNvPicPr>
          <p:nvPr/>
        </p:nvPicPr>
        <p:blipFill>
          <a:blip r:embed="rId3"/>
          <a:stretch>
            <a:fillRect/>
          </a:stretch>
        </p:blipFill>
        <p:spPr>
          <a:xfrm>
            <a:off x="612648" y="3557016"/>
            <a:ext cx="512064" cy="512064"/>
          </a:xfrm>
          <a:prstGeom prst="rect">
            <a:avLst/>
          </a:prstGeom>
        </p:spPr>
      </p:pic>
      <p:sp>
        <p:nvSpPr>
          <p:cNvPr id="14" name="Text 9"/>
          <p:cNvSpPr/>
          <p:nvPr/>
        </p:nvSpPr>
        <p:spPr>
          <a:xfrm>
            <a:off x="1325880" y="3557016"/>
            <a:ext cx="9997135" cy="548640"/>
          </a:xfrm>
          <a:prstGeom prst="rect">
            <a:avLst/>
          </a:prstGeom>
          <a:noFill/>
          <a:ln/>
        </p:spPr>
        <p:txBody>
          <a:bodyPr wrap="square" lIns="0" tIns="0" rIns="0" bIns="0" rtlCol="0" anchor="ctr"/>
          <a:lstStyle/>
          <a:p>
            <a:pPr algn="l" indent="0" marL="0">
              <a:lnSpc>
                <a:spcPct val="110000"/>
              </a:lnSpc>
              <a:buNone/>
            </a:pPr>
            <a:r>
              <a:rPr lang="en-US" sz="1500" dirty="0">
                <a:solidFill>
                  <a:srgbClr val="FFFFFF"/>
                </a:solidFill>
                <a:latin typeface="Calibri" pitchFamily="34" charset="0"/>
                <a:ea typeface="Calibri" pitchFamily="34" charset="-122"/>
                <a:cs typeface="Calibri" pitchFamily="34" charset="-120"/>
              </a:rPr>
              <a:t>Compost food scraps instead of sending them to the trash.</a:t>
            </a:r>
            <a:endParaRPr lang="en-US" sz="1500" dirty="0"/>
          </a:p>
        </p:txBody>
      </p:sp>
      <p:sp>
        <p:nvSpPr>
          <p:cNvPr id="15" name="Shape 10"/>
          <p:cNvSpPr/>
          <p:nvPr/>
        </p:nvSpPr>
        <p:spPr>
          <a:xfrm>
            <a:off x="612648" y="4306824"/>
            <a:ext cx="512064" cy="512064"/>
          </a:xfrm>
          <a:prstGeom prst="ellipse">
            <a:avLst/>
          </a:prstGeom>
          <a:solidFill>
            <a:srgbClr val="2C5F2D"/>
          </a:solidFill>
          <a:ln/>
        </p:spPr>
      </p:sp>
      <p:pic>
        <p:nvPicPr>
          <p:cNvPr id="16" name="Image 3" descr="preencoded.png">    </p:cNvPr>
          <p:cNvPicPr>
            <a:picLocks noChangeAspect="1"/>
          </p:cNvPicPr>
          <p:nvPr/>
        </p:nvPicPr>
        <p:blipFill>
          <a:blip r:embed="rId4"/>
          <a:stretch>
            <a:fillRect/>
          </a:stretch>
        </p:blipFill>
        <p:spPr>
          <a:xfrm>
            <a:off x="612648" y="4306824"/>
            <a:ext cx="512064" cy="512064"/>
          </a:xfrm>
          <a:prstGeom prst="rect">
            <a:avLst/>
          </a:prstGeom>
        </p:spPr>
      </p:pic>
      <p:sp>
        <p:nvSpPr>
          <p:cNvPr id="17" name="Text 11"/>
          <p:cNvSpPr/>
          <p:nvPr/>
        </p:nvSpPr>
        <p:spPr>
          <a:xfrm>
            <a:off x="1325880" y="4306824"/>
            <a:ext cx="9997135" cy="548640"/>
          </a:xfrm>
          <a:prstGeom prst="rect">
            <a:avLst/>
          </a:prstGeom>
          <a:noFill/>
          <a:ln/>
        </p:spPr>
        <p:txBody>
          <a:bodyPr wrap="square" lIns="0" tIns="0" rIns="0" bIns="0" rtlCol="0" anchor="ctr"/>
          <a:lstStyle/>
          <a:p>
            <a:pPr algn="l" indent="0" marL="0">
              <a:lnSpc>
                <a:spcPct val="110000"/>
              </a:lnSpc>
              <a:buNone/>
            </a:pPr>
            <a:r>
              <a:rPr lang="en-US" sz="1500" dirty="0">
                <a:solidFill>
                  <a:srgbClr val="FFFFFF"/>
                </a:solidFill>
                <a:latin typeface="Calibri" pitchFamily="34" charset="0"/>
                <a:ea typeface="Calibri" pitchFamily="34" charset="-122"/>
                <a:cs typeface="Calibri" pitchFamily="34" charset="-120"/>
              </a:rPr>
              <a:t>Support food donation laws and curbside composting programs.</a:t>
            </a:r>
            <a:endParaRPr lang="en-US" sz="1500" dirty="0"/>
          </a:p>
        </p:txBody>
      </p:sp>
      <p:sp>
        <p:nvSpPr>
          <p:cNvPr id="18" name="Shape 12"/>
          <p:cNvSpPr/>
          <p:nvPr/>
        </p:nvSpPr>
        <p:spPr>
          <a:xfrm>
            <a:off x="548640" y="5257800"/>
            <a:ext cx="11094415" cy="822960"/>
          </a:xfrm>
          <a:prstGeom prst="roundRect">
            <a:avLst>
              <a:gd name="adj" fmla="val 11111"/>
            </a:avLst>
          </a:prstGeom>
          <a:solidFill>
            <a:srgbClr val="D8892B"/>
          </a:solidFill>
          <a:ln/>
        </p:spPr>
      </p:sp>
      <p:sp>
        <p:nvSpPr>
          <p:cNvPr id="19" name="Text 13"/>
          <p:cNvSpPr/>
          <p:nvPr/>
        </p:nvSpPr>
        <p:spPr>
          <a:xfrm>
            <a:off x="822960" y="5257800"/>
            <a:ext cx="10545775" cy="822960"/>
          </a:xfrm>
          <a:prstGeom prst="rect">
            <a:avLst/>
          </a:prstGeom>
          <a:noFill/>
          <a:ln/>
        </p:spPr>
        <p:txBody>
          <a:bodyPr wrap="square" lIns="0" tIns="0" rIns="0" bIns="0" rtlCol="0" anchor="ctr"/>
          <a:lstStyle/>
          <a:p>
            <a:pPr algn="l" indent="0" marL="0">
              <a:lnSpc>
                <a:spcPct val="115000"/>
              </a:lnSpc>
              <a:buNone/>
            </a:pPr>
            <a:r>
              <a:rPr lang="en-US" sz="1600" b="1" dirty="0">
                <a:solidFill>
                  <a:srgbClr val="FFFFFF"/>
                </a:solidFill>
                <a:latin typeface="Georgia" pitchFamily="34" charset="0"/>
                <a:ea typeface="Georgia" pitchFamily="34" charset="-122"/>
                <a:cs typeface="Georgia" pitchFamily="34" charset="-120"/>
              </a:rPr>
              <a:t>Waste a little less, and we save money, cut emissions, protect habitats, and help feed our neighbors, all at once.</a:t>
            </a:r>
            <a:endParaRPr lang="en-US" sz="1600" dirty="0"/>
          </a:p>
        </p:txBody>
      </p:sp>
      <p:sp>
        <p:nvSpPr>
          <p:cNvPr id="20" name="Text 14"/>
          <p:cNvSpPr/>
          <p:nvPr/>
        </p:nvSpPr>
        <p:spPr>
          <a:xfrm>
            <a:off x="548640" y="6355080"/>
            <a:ext cx="11094415" cy="320040"/>
          </a:xfrm>
          <a:prstGeom prst="rect">
            <a:avLst/>
          </a:prstGeom>
          <a:noFill/>
          <a:ln/>
        </p:spPr>
        <p:txBody>
          <a:bodyPr wrap="square" lIns="0" tIns="0" rIns="0" bIns="0" rtlCol="0" anchor="t"/>
          <a:lstStyle/>
          <a:p>
            <a:pPr algn="l" indent="0" marL="0">
              <a:lnSpc>
                <a:spcPct val="112000"/>
              </a:lnSpc>
              <a:buNone/>
            </a:pPr>
            <a:r>
              <a:rPr lang="en-US" sz="1100" dirty="0">
                <a:solidFill>
                  <a:srgbClr val="9FB090"/>
                </a:solidFill>
                <a:latin typeface="Calibri" pitchFamily="34" charset="0"/>
                <a:ea typeface="Calibri" pitchFamily="34" charset="-122"/>
                <a:cs typeface="Calibri" pitchFamily="34" charset="-120"/>
              </a:rPr>
              <a:t>Sources: FAO, USDA, U.S. EPA, ReFED, and Feeding America.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2026-07-29T20:56:13Z</dcterms:created>
  <dcterms:modified xsi:type="dcterms:W3CDTF">2026-07-29T20:56:13Z</dcterms:modified>
</cp:coreProperties>
</file>